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6083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3914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0015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30954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39248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03155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65340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2479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45626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83163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12/27/2025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8498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12/27/2025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6971457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microsoft.com/office/2007/relationships/hdphoto" Target="../media/hdphoto2.wdp"/><Relationship Id="rId7" Type="http://schemas.openxmlformats.org/officeDocument/2006/relationships/slide" Target="slide8.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4.xml"/><Relationship Id="rId5" Type="http://schemas.openxmlformats.org/officeDocument/2006/relationships/slide" Target="slide4.xml"/><Relationship Id="rId10" Type="http://schemas.openxmlformats.org/officeDocument/2006/relationships/slide" Target="slide12.xml"/><Relationship Id="rId4" Type="http://schemas.openxmlformats.org/officeDocument/2006/relationships/slide" Target="slide3.xml"/><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2.wdp"/><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0" name="Picture 9">
            <a:extLst>
              <a:ext uri="{FF2B5EF4-FFF2-40B4-BE49-F238E27FC236}">
                <a16:creationId xmlns:a16="http://schemas.microsoft.com/office/drawing/2014/main" id="{864290B3-3382-1CD2-F499-FB4E614F85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7" name="TextBox 6">
            <a:extLst>
              <a:ext uri="{FF2B5EF4-FFF2-40B4-BE49-F238E27FC236}">
                <a16:creationId xmlns:a16="http://schemas.microsoft.com/office/drawing/2014/main" id="{0E4BD810-302F-0C89-00F5-8315762D20FF}"/>
              </a:ext>
            </a:extLst>
          </p:cNvPr>
          <p:cNvSpPr txBox="1"/>
          <p:nvPr/>
        </p:nvSpPr>
        <p:spPr>
          <a:xfrm>
            <a:off x="3856086" y="6356930"/>
            <a:ext cx="6572784" cy="400110"/>
          </a:xfrm>
          <a:prstGeom prst="rect">
            <a:avLst/>
          </a:prstGeom>
          <a:noFill/>
        </p:spPr>
        <p:txBody>
          <a:bodyPr wrap="square">
            <a:spAutoFit/>
          </a:bodyPr>
          <a:lstStyle/>
          <a:p>
            <a:r>
              <a:rPr lang="en-US" sz="2000" dirty="0">
                <a:solidFill>
                  <a:schemeClr val="bg1"/>
                </a:solidFill>
                <a:latin typeface="Agency FB" panose="020B0503020202020204" pitchFamily="34" charset="0"/>
                <a:cs typeface="Times New Roman" panose="02020603050405020304" pitchFamily="18" charset="0"/>
              </a:rPr>
              <a:t>University of Science and Technology Houari Boumediene</a:t>
            </a:r>
          </a:p>
        </p:txBody>
      </p:sp>
      <p:pic>
        <p:nvPicPr>
          <p:cNvPr id="12" name="Picture 11">
            <a:extLst>
              <a:ext uri="{FF2B5EF4-FFF2-40B4-BE49-F238E27FC236}">
                <a16:creationId xmlns:a16="http://schemas.microsoft.com/office/drawing/2014/main" id="{8FCE3C85-185B-DC25-3783-1DEAA6E72102}"/>
              </a:ext>
            </a:extLst>
          </p:cNvPr>
          <p:cNvPicPr>
            <a:picLocks noChangeAspect="1"/>
          </p:cNvPicPr>
          <p:nvPr/>
        </p:nvPicPr>
        <p:blipFill>
          <a:blip r:embed="rId3">
            <a:alphaModFix/>
            <a:extLst>
              <a:ext uri="{BEBA8EAE-BF5A-486C-A8C5-ECC9F3942E4B}">
                <a14:imgProps xmlns:a14="http://schemas.microsoft.com/office/drawing/2010/main">
                  <a14:imgLayer r:embed="rId4">
                    <a14:imgEffect>
                      <a14:colorTemperature colorTemp="4700"/>
                    </a14:imgEffect>
                  </a14:imgLayer>
                </a14:imgProps>
              </a:ext>
            </a:extLst>
          </a:blip>
          <a:stretch>
            <a:fillRect/>
          </a:stretch>
        </p:blipFill>
        <p:spPr>
          <a:xfrm>
            <a:off x="4528417" y="2262910"/>
            <a:ext cx="3460175" cy="1831110"/>
          </a:xfrm>
          <a:prstGeom prst="rect">
            <a:avLst/>
          </a:prstGeom>
        </p:spPr>
      </p:pic>
      <p:sp>
        <p:nvSpPr>
          <p:cNvPr id="3" name="TextBox 2">
            <a:extLst>
              <a:ext uri="{FF2B5EF4-FFF2-40B4-BE49-F238E27FC236}">
                <a16:creationId xmlns:a16="http://schemas.microsoft.com/office/drawing/2014/main" id="{F8A0C3E4-A986-462F-7584-F6275DB3EF8F}"/>
              </a:ext>
            </a:extLst>
          </p:cNvPr>
          <p:cNvSpPr txBox="1"/>
          <p:nvPr/>
        </p:nvSpPr>
        <p:spPr>
          <a:xfrm>
            <a:off x="8386835" y="3858140"/>
            <a:ext cx="4476171" cy="2922531"/>
          </a:xfrm>
          <a:prstGeom prst="rect">
            <a:avLst/>
          </a:prstGeom>
          <a:noFill/>
        </p:spPr>
        <p:txBody>
          <a:bodyPr wrap="square">
            <a:spAutoFit/>
          </a:bodyPr>
          <a:lstStyle/>
          <a:p>
            <a:pPr marL="0" marR="0" algn="ctr">
              <a:lnSpc>
                <a:spcPct val="107000"/>
              </a:lnSpc>
              <a:spcAft>
                <a:spcPts val="800"/>
              </a:spcAft>
              <a:buNone/>
            </a:pPr>
            <a:r>
              <a:rPr lang="en-US" sz="3200" dirty="0">
                <a:solidFill>
                  <a:schemeClr val="tx2">
                    <a:lumMod val="50000"/>
                    <a:lumOff val="50000"/>
                  </a:schemeClr>
                </a:solidFill>
                <a:effectLst/>
                <a:latin typeface="Agency FB" panose="020B0503020202020204" pitchFamily="34" charset="0"/>
                <a:ea typeface="Calibri" panose="020F0502020204030204" pitchFamily="34" charset="0"/>
                <a:cs typeface="Calibri" panose="020F0502020204030204" pitchFamily="34" charset="0"/>
              </a:rPr>
              <a:t>TEAM ID5</a:t>
            </a:r>
            <a:endParaRPr lang="en-US" sz="1400" dirty="0">
              <a:solidFill>
                <a:schemeClr val="tx2">
                  <a:lumMod val="50000"/>
                  <a:lumOff val="5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gn="ctr">
              <a:lnSpc>
                <a:spcPct val="107000"/>
              </a:lnSpc>
              <a:spcAft>
                <a:spcPts val="800"/>
              </a:spcAft>
              <a:buNone/>
            </a:pPr>
            <a:r>
              <a:rPr lang="en-US" sz="1800" u="sng" dirty="0">
                <a:solidFill>
                  <a:schemeClr val="tx2">
                    <a:lumMod val="50000"/>
                    <a:lumOff val="50000"/>
                  </a:schemeClr>
                </a:solidFill>
                <a:effectLst/>
                <a:latin typeface="Agency FB" panose="020B0503020202020204" pitchFamily="34" charset="0"/>
                <a:ea typeface="Calibri" panose="020F0502020204030204" pitchFamily="34" charset="0"/>
                <a:cs typeface="Calibri" panose="020F0502020204030204" pitchFamily="34" charset="0"/>
              </a:rPr>
              <a:t>Created By</a:t>
            </a:r>
            <a:r>
              <a:rPr lang="en-US" sz="1800" dirty="0">
                <a:solidFill>
                  <a:schemeClr val="tx2">
                    <a:lumMod val="50000"/>
                    <a:lumOff val="50000"/>
                  </a:schemeClr>
                </a:solidFill>
                <a:effectLst/>
                <a:latin typeface="Agency FB" panose="020B0503020202020204" pitchFamily="34" charset="0"/>
                <a:ea typeface="Calibri" panose="020F0502020204030204" pitchFamily="34" charset="0"/>
                <a:cs typeface="Calibri" panose="020F0502020204030204" pitchFamily="34" charset="0"/>
              </a:rPr>
              <a:t>: DJOUDI Idris</a:t>
            </a:r>
            <a:endParaRPr lang="en-US" sz="1400" dirty="0">
              <a:solidFill>
                <a:schemeClr val="tx2">
                  <a:lumMod val="50000"/>
                  <a:lumOff val="5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gn="ctr">
              <a:lnSpc>
                <a:spcPct val="107000"/>
              </a:lnSpc>
              <a:spcAft>
                <a:spcPts val="800"/>
              </a:spcAft>
              <a:buNone/>
            </a:pPr>
            <a:r>
              <a:rPr lang="en-US" sz="1800" dirty="0">
                <a:solidFill>
                  <a:schemeClr val="tx2">
                    <a:lumMod val="50000"/>
                    <a:lumOff val="50000"/>
                  </a:schemeClr>
                </a:solidFill>
                <a:effectLst/>
                <a:latin typeface="Agency FB" panose="020B0503020202020204" pitchFamily="34" charset="0"/>
                <a:ea typeface="Calibri" panose="020F0502020204030204" pitchFamily="34" charset="0"/>
                <a:cs typeface="Calibri" panose="020F0502020204030204" pitchFamily="34" charset="0"/>
              </a:rPr>
              <a:t>BENSAID Marouane </a:t>
            </a:r>
            <a:endParaRPr lang="en-US" sz="1400" dirty="0">
              <a:solidFill>
                <a:schemeClr val="tx2">
                  <a:lumMod val="50000"/>
                  <a:lumOff val="5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gn="ctr">
              <a:lnSpc>
                <a:spcPct val="107000"/>
              </a:lnSpc>
              <a:spcAft>
                <a:spcPts val="800"/>
              </a:spcAft>
              <a:buNone/>
            </a:pPr>
            <a:r>
              <a:rPr lang="en-US" sz="1800" dirty="0">
                <a:solidFill>
                  <a:schemeClr val="tx2">
                    <a:lumMod val="50000"/>
                    <a:lumOff val="50000"/>
                  </a:schemeClr>
                </a:solidFill>
                <a:effectLst/>
                <a:latin typeface="Agency FB" panose="020B0503020202020204" pitchFamily="34" charset="0"/>
                <a:ea typeface="Calibri" panose="020F0502020204030204" pitchFamily="34" charset="0"/>
                <a:cs typeface="Calibri" panose="020F0502020204030204" pitchFamily="34" charset="0"/>
              </a:rPr>
              <a:t>BOUALEM Yacine</a:t>
            </a:r>
            <a:endParaRPr lang="en-US" sz="1400" dirty="0">
              <a:solidFill>
                <a:schemeClr val="tx2">
                  <a:lumMod val="50000"/>
                  <a:lumOff val="50000"/>
                </a:schemeClr>
              </a:solidFill>
              <a:effectLst/>
              <a:latin typeface="Agency FB" panose="020B0503020202020204" pitchFamily="34" charset="0"/>
              <a:ea typeface="Calibri" panose="020F0502020204030204" pitchFamily="34" charset="0"/>
              <a:cs typeface="Arial" panose="020B0604020202020204" pitchFamily="34" charset="0"/>
            </a:endParaRPr>
          </a:p>
          <a:p>
            <a:pPr algn="ctr">
              <a:lnSpc>
                <a:spcPct val="107000"/>
              </a:lnSpc>
              <a:spcAft>
                <a:spcPts val="800"/>
              </a:spcAft>
            </a:pPr>
            <a:r>
              <a:rPr lang="en-US" sz="1800" dirty="0">
                <a:solidFill>
                  <a:schemeClr val="tx2">
                    <a:lumMod val="50000"/>
                    <a:lumOff val="50000"/>
                  </a:schemeClr>
                </a:solidFill>
                <a:effectLst/>
                <a:latin typeface="Agency FB" panose="020B0503020202020204" pitchFamily="34" charset="0"/>
                <a:ea typeface="Calibri" panose="020F0502020204030204" pitchFamily="34" charset="0"/>
                <a:cs typeface="Calibri" panose="020F0502020204030204" pitchFamily="34" charset="0"/>
              </a:rPr>
              <a:t> </a:t>
            </a:r>
            <a:r>
              <a:rPr lang="en-US" dirty="0">
                <a:solidFill>
                  <a:schemeClr val="tx2">
                    <a:lumMod val="50000"/>
                    <a:lumOff val="50000"/>
                  </a:schemeClr>
                </a:solidFill>
                <a:latin typeface="Agency FB" panose="020B0503020202020204" pitchFamily="34" charset="0"/>
              </a:rPr>
              <a:t>BOUSBAINE Abdelaziz</a:t>
            </a:r>
          </a:p>
          <a:p>
            <a:pPr algn="ctr">
              <a:lnSpc>
                <a:spcPct val="107000"/>
              </a:lnSpc>
              <a:spcAft>
                <a:spcPts val="800"/>
              </a:spcAft>
            </a:pPr>
            <a:endParaRPr lang="en-US" sz="1400" dirty="0">
              <a:solidFill>
                <a:schemeClr val="tx2">
                  <a:lumMod val="50000"/>
                  <a:lumOff val="5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gn="ctr">
              <a:lnSpc>
                <a:spcPct val="107000"/>
              </a:lnSpc>
              <a:spcAft>
                <a:spcPts val="800"/>
              </a:spcAft>
              <a:buNone/>
            </a:pPr>
            <a:r>
              <a:rPr lang="en-US" sz="1800" dirty="0">
                <a:solidFill>
                  <a:schemeClr val="tx2">
                    <a:lumMod val="50000"/>
                    <a:lumOff val="50000"/>
                  </a:schemeClr>
                </a:solidFill>
                <a:effectLst/>
                <a:latin typeface="Agency FB" panose="020B0503020202020204" pitchFamily="34" charset="0"/>
                <a:ea typeface="Calibri" panose="020F0502020204030204" pitchFamily="34" charset="0"/>
                <a:cs typeface="Calibri" panose="020F0502020204030204" pitchFamily="34" charset="0"/>
              </a:rPr>
              <a:t>Supervisor: BOUCHEKIR Redouane</a:t>
            </a:r>
            <a:endParaRPr lang="en-US" sz="1400" dirty="0">
              <a:solidFill>
                <a:schemeClr val="tx2">
                  <a:lumMod val="50000"/>
                  <a:lumOff val="50000"/>
                </a:schemeClr>
              </a:solidFill>
              <a:effectLst/>
              <a:latin typeface="Agency FB" panose="020B0503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2443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 calcmode="lin" valueType="num">
                                      <p:cBhvr>
                                        <p:cTn id="9" dur="1000" fill="hold"/>
                                        <p:tgtEl>
                                          <p:spTgt spid="12"/>
                                        </p:tgtEl>
                                        <p:attrNameLst>
                                          <p:attrName>style.rotation</p:attrName>
                                        </p:attrNameLst>
                                      </p:cBhvr>
                                      <p:tavLst>
                                        <p:tav tm="0">
                                          <p:val>
                                            <p:fltVal val="90"/>
                                          </p:val>
                                        </p:tav>
                                        <p:tav tm="100000">
                                          <p:val>
                                            <p:fltVal val="0"/>
                                          </p:val>
                                        </p:tav>
                                      </p:tavLst>
                                    </p:anim>
                                    <p:animEffect transition="in" filter="fade">
                                      <p:cBhvr>
                                        <p:cTn id="10" dur="10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42"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EE5B73-341E-25DD-C8B0-D2F2BFD62A9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99834BD6-7E1D-3547-2A93-AC28B632855C}"/>
              </a:ext>
            </a:extLst>
          </p:cNvPr>
          <p:cNvSpPr txBox="1"/>
          <p:nvPr/>
        </p:nvSpPr>
        <p:spPr>
          <a:xfrm>
            <a:off x="75936" y="806583"/>
            <a:ext cx="6162674" cy="369332"/>
          </a:xfrm>
          <a:prstGeom prst="rect">
            <a:avLst/>
          </a:prstGeom>
          <a:noFill/>
        </p:spPr>
        <p:txBody>
          <a:bodyPr wrap="square">
            <a:spAutoFit/>
          </a:bodyPr>
          <a:lstStyle/>
          <a:p>
            <a:pPr algn="ctr"/>
            <a:r>
              <a:rPr lang="en-US" u="sng" dirty="0">
                <a:solidFill>
                  <a:schemeClr val="bg2"/>
                </a:solidFill>
                <a:latin typeface="Agency FB" panose="020B0503020202020204" pitchFamily="34" charset="0"/>
              </a:rPr>
              <a:t>Table of Contents</a:t>
            </a:r>
          </a:p>
        </p:txBody>
      </p:sp>
      <p:sp>
        <p:nvSpPr>
          <p:cNvPr id="9" name="TextBox 8">
            <a:extLst>
              <a:ext uri="{FF2B5EF4-FFF2-40B4-BE49-F238E27FC236}">
                <a16:creationId xmlns:a16="http://schemas.microsoft.com/office/drawing/2014/main" id="{B7187871-DB56-06D8-BB79-C2CDD7EA121C}"/>
              </a:ext>
            </a:extLst>
          </p:cNvPr>
          <p:cNvSpPr txBox="1"/>
          <p:nvPr/>
        </p:nvSpPr>
        <p:spPr>
          <a:xfrm>
            <a:off x="2100649" y="1175915"/>
            <a:ext cx="6158484" cy="5271571"/>
          </a:xfrm>
          <a:prstGeom prst="rect">
            <a:avLst/>
          </a:prstGeom>
          <a:noFill/>
        </p:spPr>
        <p:txBody>
          <a:bodyPr wrap="square">
            <a:spAutoFit/>
          </a:bodyPr>
          <a:lstStyle/>
          <a:p>
            <a:pPr marL="342900" marR="0" lvl="0" indent="-342900" rtl="0">
              <a:lnSpc>
                <a:spcPct val="115000"/>
              </a:lnSpc>
              <a:buFont typeface="+mj-lt"/>
              <a:buAutoNum type="romanUcPeriod"/>
            </a:pPr>
            <a:r>
              <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hlinkClick r:id="rId4" action="ppaction://hlinksldjump"/>
              </a:rPr>
              <a:t>Introduction</a:t>
            </a:r>
            <a:r>
              <a:rPr lang="en-US" sz="1400" b="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a:t>
            </a:r>
          </a:p>
          <a:p>
            <a:pPr marL="342900" marR="0" lvl="0" indent="-342900" rtl="0">
              <a:lnSpc>
                <a:spcPct val="115000"/>
              </a:lnSpc>
              <a:buFont typeface="+mj-lt"/>
              <a:buAutoNum type="romanUcPeriod"/>
            </a:pPr>
            <a:r>
              <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hlinkClick r:id="rId5" action="ppaction://hlinksldjump"/>
              </a:rPr>
              <a:t>What is ICT?</a:t>
            </a:r>
            <a:endPar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742950" marR="0" lvl="1"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Definition,</a:t>
            </a:r>
          </a:p>
          <a:p>
            <a:pPr marL="742950" marR="0" lvl="1"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Importance of ICT in Modern Society.</a:t>
            </a:r>
          </a:p>
          <a:p>
            <a:pPr marL="342900" marR="0" lvl="0" indent="-342900">
              <a:lnSpc>
                <a:spcPct val="115000"/>
              </a:lnSpc>
              <a:buFont typeface="+mj-lt"/>
              <a:buAutoNum type="romanUcPeriod"/>
            </a:pPr>
            <a:r>
              <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hlinkClick r:id="rId6" action="ppaction://hlinksldjump"/>
              </a:rPr>
              <a:t>Categories of ICT Technologies</a:t>
            </a:r>
            <a:endPar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742950" marR="0" lvl="1"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Communication Technologies.</a:t>
            </a:r>
          </a:p>
          <a:p>
            <a:pPr marL="342900" marR="0" lvl="0" indent="-342900">
              <a:lnSpc>
                <a:spcPct val="115000"/>
              </a:lnSpc>
              <a:buFont typeface="+mj-lt"/>
              <a:buAutoNum type="romanUcPeriod"/>
            </a:pPr>
            <a:r>
              <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hlinkClick r:id="rId7" action="ppaction://hlinksldjump"/>
              </a:rPr>
              <a:t>Google Services in ICT</a:t>
            </a:r>
            <a:endPar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742950" marR="0" lvl="1"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Google Workspace.</a:t>
            </a:r>
          </a:p>
          <a:p>
            <a:pPr marL="742950" marR="0" lvl="1"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Educational Tools.</a:t>
            </a:r>
          </a:p>
          <a:p>
            <a:pPr marL="342900" marR="0" lvl="0" indent="-342900">
              <a:lnSpc>
                <a:spcPct val="115000"/>
              </a:lnSpc>
              <a:buFont typeface="+mj-lt"/>
              <a:buAutoNum type="romanUcPeriod"/>
            </a:pPr>
            <a:r>
              <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hlinkClick r:id="rId8" action="ppaction://hlinksldjump"/>
              </a:rPr>
              <a:t>Microsoft Tools in ICT</a:t>
            </a:r>
            <a:endPar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742950" marR="0" lvl="1"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Microsoft Office:</a:t>
            </a:r>
          </a:p>
          <a:p>
            <a:pPr marL="1200150" marR="0" lvl="2"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Word</a:t>
            </a:r>
          </a:p>
          <a:p>
            <a:pPr marL="1200150" marR="0" lvl="2"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Excel</a:t>
            </a:r>
          </a:p>
          <a:p>
            <a:pPr marL="1200150" marR="0" lvl="2"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Power points</a:t>
            </a:r>
          </a:p>
          <a:p>
            <a:pPr marL="342900" marR="0" lvl="0" indent="-342900">
              <a:lnSpc>
                <a:spcPct val="115000"/>
              </a:lnSpc>
              <a:buFont typeface="+mj-lt"/>
              <a:buAutoNum type="romanUcPeriod"/>
            </a:pPr>
            <a:r>
              <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hlinkClick r:id="rId9" action="ppaction://hlinksldjump"/>
              </a:rPr>
              <a:t>Introduction to Git and GitHub</a:t>
            </a:r>
            <a:endPar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742950" marR="0" lvl="1"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What is Git?</a:t>
            </a:r>
          </a:p>
          <a:p>
            <a:pPr marL="742950" marR="0" lvl="1"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What is GitHub?</a:t>
            </a:r>
          </a:p>
          <a:p>
            <a:pPr marL="342900" marR="0" lvl="0" indent="-342900">
              <a:lnSpc>
                <a:spcPct val="115000"/>
              </a:lnSpc>
              <a:buFont typeface="+mj-lt"/>
              <a:buAutoNum type="romanUcPeriod"/>
            </a:pPr>
            <a:r>
              <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hlinkClick r:id="rId10" action="ppaction://hlinksldjump"/>
              </a:rPr>
              <a:t>Case Studies &amp; Example</a:t>
            </a:r>
            <a:endPar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742950" marR="0" lvl="1"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How ICT Improves Daily Work.</a:t>
            </a:r>
          </a:p>
          <a:p>
            <a:pPr marL="742950" marR="0" lvl="1" indent="-285750">
              <a:lnSpc>
                <a:spcPct val="115000"/>
              </a:lnSpc>
              <a:buFont typeface="+mj-lt"/>
              <a:buAutoNum type="romanUcPeriod"/>
            </a:pPr>
            <a:r>
              <a:rPr lang="en-US" sz="1400" kern="100" dirty="0">
                <a:solidFill>
                  <a:schemeClr val="bg2"/>
                </a:solidFill>
                <a:effectLst/>
                <a:latin typeface="Agency FB" panose="020B0503020202020204" pitchFamily="34" charset="0"/>
                <a:ea typeface="Calibri" panose="020F0502020204030204" pitchFamily="34" charset="0"/>
                <a:cs typeface="Arial" panose="020B0604020202020204" pitchFamily="34" charset="0"/>
              </a:rPr>
              <a:t>Real-World Applications.</a:t>
            </a:r>
          </a:p>
          <a:p>
            <a:pPr marL="342900" marR="0" lvl="0" indent="-342900">
              <a:lnSpc>
                <a:spcPct val="115000"/>
              </a:lnSpc>
              <a:buFont typeface="+mj-lt"/>
              <a:buAutoNum type="romanUcPeriod"/>
            </a:pPr>
            <a:r>
              <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hlinkClick r:id="rId11" action="ppaction://hlinksldjump"/>
              </a:rPr>
              <a:t>Conclusion</a:t>
            </a:r>
            <a:endParaRPr lang="en-US" sz="14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8231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 calcmode="lin" valueType="num">
                                      <p:cBhvr additive="base">
                                        <p:cTn id="12"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anim calcmode="lin" valueType="num">
                                      <p:cBhvr additive="base">
                                        <p:cTn id="1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9">
                                            <p:txEl>
                                              <p:pRg st="2" end="2"/>
                                            </p:txEl>
                                          </p:spTgt>
                                        </p:tgtEl>
                                        <p:attrNameLst>
                                          <p:attrName>style.visibility</p:attrName>
                                        </p:attrNameLst>
                                      </p:cBhvr>
                                      <p:to>
                                        <p:strVal val="visible"/>
                                      </p:to>
                                    </p:set>
                                    <p:anim calcmode="lin" valueType="num">
                                      <p:cBhvr additive="base">
                                        <p:cTn id="22"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 calcmode="lin" valueType="num">
                                      <p:cBhvr additive="base">
                                        <p:cTn id="27"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9">
                                            <p:txEl>
                                              <p:pRg st="4" end="4"/>
                                            </p:txEl>
                                          </p:spTgt>
                                        </p:tgtEl>
                                        <p:attrNameLst>
                                          <p:attrName>style.visibility</p:attrName>
                                        </p:attrNameLst>
                                      </p:cBhvr>
                                      <p:to>
                                        <p:strVal val="visible"/>
                                      </p:to>
                                    </p:set>
                                    <p:anim calcmode="lin" valueType="num">
                                      <p:cBhvr additive="base">
                                        <p:cTn id="32"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anim calcmode="lin" valueType="num">
                                      <p:cBhvr additive="base">
                                        <p:cTn id="3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9">
                                            <p:txEl>
                                              <p:pRg st="6" end="6"/>
                                            </p:txEl>
                                          </p:spTgt>
                                        </p:tgtEl>
                                        <p:attrNameLst>
                                          <p:attrName>style.visibility</p:attrName>
                                        </p:attrNameLst>
                                      </p:cBhvr>
                                      <p:to>
                                        <p:strVal val="visible"/>
                                      </p:to>
                                    </p:set>
                                    <p:anim calcmode="lin" valueType="num">
                                      <p:cBhvr additive="base">
                                        <p:cTn id="42"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9">
                                            <p:txEl>
                                              <p:pRg st="7" end="7"/>
                                            </p:txEl>
                                          </p:spTgt>
                                        </p:tgtEl>
                                        <p:attrNameLst>
                                          <p:attrName>style.visibility</p:attrName>
                                        </p:attrNameLst>
                                      </p:cBhvr>
                                      <p:to>
                                        <p:strVal val="visible"/>
                                      </p:to>
                                    </p:set>
                                    <p:anim calcmode="lin" valueType="num">
                                      <p:cBhvr additive="base">
                                        <p:cTn id="47"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par>
                          <p:cTn id="49" fill="hold">
                            <p:stCondLst>
                              <p:cond delay="4500"/>
                            </p:stCondLst>
                            <p:childTnLst>
                              <p:par>
                                <p:cTn id="50" presetID="2" presetClass="entr" presetSubtype="4" fill="hold" grpId="0" nodeType="afterEffect">
                                  <p:stCondLst>
                                    <p:cond delay="0"/>
                                  </p:stCondLst>
                                  <p:childTnLst>
                                    <p:set>
                                      <p:cBhvr>
                                        <p:cTn id="51" dur="1" fill="hold">
                                          <p:stCondLst>
                                            <p:cond delay="0"/>
                                          </p:stCondLst>
                                        </p:cTn>
                                        <p:tgtEl>
                                          <p:spTgt spid="9">
                                            <p:txEl>
                                              <p:pRg st="8" end="8"/>
                                            </p:txEl>
                                          </p:spTgt>
                                        </p:tgtEl>
                                        <p:attrNameLst>
                                          <p:attrName>style.visibility</p:attrName>
                                        </p:attrNameLst>
                                      </p:cBhvr>
                                      <p:to>
                                        <p:strVal val="visible"/>
                                      </p:to>
                                    </p:set>
                                    <p:anim calcmode="lin" valueType="num">
                                      <p:cBhvr additive="base">
                                        <p:cTn id="52"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9">
                                            <p:txEl>
                                              <p:pRg st="8" end="8"/>
                                            </p:txEl>
                                          </p:spTgt>
                                        </p:tgtEl>
                                        <p:attrNameLst>
                                          <p:attrName>ppt_y</p:attrName>
                                        </p:attrNameLst>
                                      </p:cBhvr>
                                      <p:tavLst>
                                        <p:tav tm="0">
                                          <p:val>
                                            <p:strVal val="1+#ppt_h/2"/>
                                          </p:val>
                                        </p:tav>
                                        <p:tav tm="100000">
                                          <p:val>
                                            <p:strVal val="#ppt_y"/>
                                          </p:val>
                                        </p:tav>
                                      </p:tavLst>
                                    </p:anim>
                                  </p:childTnLst>
                                </p:cTn>
                              </p:par>
                            </p:childTnLst>
                          </p:cTn>
                        </p:par>
                        <p:par>
                          <p:cTn id="54" fill="hold">
                            <p:stCondLst>
                              <p:cond delay="5000"/>
                            </p:stCondLst>
                            <p:childTnLst>
                              <p:par>
                                <p:cTn id="55" presetID="2" presetClass="entr" presetSubtype="4" fill="hold" grpId="0" nodeType="afterEffect">
                                  <p:stCondLst>
                                    <p:cond delay="0"/>
                                  </p:stCondLst>
                                  <p:childTnLst>
                                    <p:set>
                                      <p:cBhvr>
                                        <p:cTn id="56" dur="1" fill="hold">
                                          <p:stCondLst>
                                            <p:cond delay="0"/>
                                          </p:stCondLst>
                                        </p:cTn>
                                        <p:tgtEl>
                                          <p:spTgt spid="9">
                                            <p:txEl>
                                              <p:pRg st="9" end="9"/>
                                            </p:txEl>
                                          </p:spTgt>
                                        </p:tgtEl>
                                        <p:attrNameLst>
                                          <p:attrName>style.visibility</p:attrName>
                                        </p:attrNameLst>
                                      </p:cBhvr>
                                      <p:to>
                                        <p:strVal val="visible"/>
                                      </p:to>
                                    </p:set>
                                    <p:anim calcmode="lin" valueType="num">
                                      <p:cBhvr additive="base">
                                        <p:cTn id="57"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9">
                                            <p:txEl>
                                              <p:pRg st="9" end="9"/>
                                            </p:txEl>
                                          </p:spTgt>
                                        </p:tgtEl>
                                        <p:attrNameLst>
                                          <p:attrName>ppt_y</p:attrName>
                                        </p:attrNameLst>
                                      </p:cBhvr>
                                      <p:tavLst>
                                        <p:tav tm="0">
                                          <p:val>
                                            <p:strVal val="1+#ppt_h/2"/>
                                          </p:val>
                                        </p:tav>
                                        <p:tav tm="100000">
                                          <p:val>
                                            <p:strVal val="#ppt_y"/>
                                          </p:val>
                                        </p:tav>
                                      </p:tavLst>
                                    </p:anim>
                                  </p:childTnLst>
                                </p:cTn>
                              </p:par>
                            </p:childTnLst>
                          </p:cTn>
                        </p:par>
                        <p:par>
                          <p:cTn id="59" fill="hold">
                            <p:stCondLst>
                              <p:cond delay="5500"/>
                            </p:stCondLst>
                            <p:childTnLst>
                              <p:par>
                                <p:cTn id="60" presetID="2" presetClass="entr" presetSubtype="4" fill="hold" grpId="0" nodeType="afterEffect">
                                  <p:stCondLst>
                                    <p:cond delay="0"/>
                                  </p:stCondLst>
                                  <p:childTnLst>
                                    <p:set>
                                      <p:cBhvr>
                                        <p:cTn id="61" dur="1" fill="hold">
                                          <p:stCondLst>
                                            <p:cond delay="0"/>
                                          </p:stCondLst>
                                        </p:cTn>
                                        <p:tgtEl>
                                          <p:spTgt spid="9">
                                            <p:txEl>
                                              <p:pRg st="10" end="10"/>
                                            </p:txEl>
                                          </p:spTgt>
                                        </p:tgtEl>
                                        <p:attrNameLst>
                                          <p:attrName>style.visibility</p:attrName>
                                        </p:attrNameLst>
                                      </p:cBhvr>
                                      <p:to>
                                        <p:strVal val="visible"/>
                                      </p:to>
                                    </p:set>
                                    <p:anim calcmode="lin" valueType="num">
                                      <p:cBhvr additive="base">
                                        <p:cTn id="62"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9">
                                            <p:txEl>
                                              <p:pRg st="10" end="10"/>
                                            </p:txEl>
                                          </p:spTgt>
                                        </p:tgtEl>
                                        <p:attrNameLst>
                                          <p:attrName>ppt_y</p:attrName>
                                        </p:attrNameLst>
                                      </p:cBhvr>
                                      <p:tavLst>
                                        <p:tav tm="0">
                                          <p:val>
                                            <p:strVal val="1+#ppt_h/2"/>
                                          </p:val>
                                        </p:tav>
                                        <p:tav tm="100000">
                                          <p:val>
                                            <p:strVal val="#ppt_y"/>
                                          </p:val>
                                        </p:tav>
                                      </p:tavLst>
                                    </p:anim>
                                  </p:childTnLst>
                                </p:cTn>
                              </p:par>
                            </p:childTnLst>
                          </p:cTn>
                        </p:par>
                        <p:par>
                          <p:cTn id="64" fill="hold">
                            <p:stCondLst>
                              <p:cond delay="6000"/>
                            </p:stCondLst>
                            <p:childTnLst>
                              <p:par>
                                <p:cTn id="65" presetID="2" presetClass="entr" presetSubtype="4" fill="hold" grpId="0" nodeType="afterEffect">
                                  <p:stCondLst>
                                    <p:cond delay="0"/>
                                  </p:stCondLst>
                                  <p:childTnLst>
                                    <p:set>
                                      <p:cBhvr>
                                        <p:cTn id="66" dur="1" fill="hold">
                                          <p:stCondLst>
                                            <p:cond delay="0"/>
                                          </p:stCondLst>
                                        </p:cTn>
                                        <p:tgtEl>
                                          <p:spTgt spid="9">
                                            <p:txEl>
                                              <p:pRg st="11" end="11"/>
                                            </p:txEl>
                                          </p:spTgt>
                                        </p:tgtEl>
                                        <p:attrNameLst>
                                          <p:attrName>style.visibility</p:attrName>
                                        </p:attrNameLst>
                                      </p:cBhvr>
                                      <p:to>
                                        <p:strVal val="visible"/>
                                      </p:to>
                                    </p:set>
                                    <p:anim calcmode="lin" valueType="num">
                                      <p:cBhvr additive="base">
                                        <p:cTn id="67"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9">
                                            <p:txEl>
                                              <p:pRg st="11" end="11"/>
                                            </p:txEl>
                                          </p:spTgt>
                                        </p:tgtEl>
                                        <p:attrNameLst>
                                          <p:attrName>ppt_y</p:attrName>
                                        </p:attrNameLst>
                                      </p:cBhvr>
                                      <p:tavLst>
                                        <p:tav tm="0">
                                          <p:val>
                                            <p:strVal val="1+#ppt_h/2"/>
                                          </p:val>
                                        </p:tav>
                                        <p:tav tm="100000">
                                          <p:val>
                                            <p:strVal val="#ppt_y"/>
                                          </p:val>
                                        </p:tav>
                                      </p:tavLst>
                                    </p:anim>
                                  </p:childTnLst>
                                </p:cTn>
                              </p:par>
                            </p:childTnLst>
                          </p:cTn>
                        </p:par>
                        <p:par>
                          <p:cTn id="69" fill="hold">
                            <p:stCondLst>
                              <p:cond delay="6500"/>
                            </p:stCondLst>
                            <p:childTnLst>
                              <p:par>
                                <p:cTn id="70" presetID="2" presetClass="entr" presetSubtype="4" fill="hold" grpId="0" nodeType="afterEffect">
                                  <p:stCondLst>
                                    <p:cond delay="0"/>
                                  </p:stCondLst>
                                  <p:childTnLst>
                                    <p:set>
                                      <p:cBhvr>
                                        <p:cTn id="71" dur="1" fill="hold">
                                          <p:stCondLst>
                                            <p:cond delay="0"/>
                                          </p:stCondLst>
                                        </p:cTn>
                                        <p:tgtEl>
                                          <p:spTgt spid="9">
                                            <p:txEl>
                                              <p:pRg st="12" end="12"/>
                                            </p:txEl>
                                          </p:spTgt>
                                        </p:tgtEl>
                                        <p:attrNameLst>
                                          <p:attrName>style.visibility</p:attrName>
                                        </p:attrNameLst>
                                      </p:cBhvr>
                                      <p:to>
                                        <p:strVal val="visible"/>
                                      </p:to>
                                    </p:set>
                                    <p:anim calcmode="lin" valueType="num">
                                      <p:cBhvr additive="base">
                                        <p:cTn id="72"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9">
                                            <p:txEl>
                                              <p:pRg st="12" end="12"/>
                                            </p:txEl>
                                          </p:spTgt>
                                        </p:tgtEl>
                                        <p:attrNameLst>
                                          <p:attrName>ppt_y</p:attrName>
                                        </p:attrNameLst>
                                      </p:cBhvr>
                                      <p:tavLst>
                                        <p:tav tm="0">
                                          <p:val>
                                            <p:strVal val="1+#ppt_h/2"/>
                                          </p:val>
                                        </p:tav>
                                        <p:tav tm="100000">
                                          <p:val>
                                            <p:strVal val="#ppt_y"/>
                                          </p:val>
                                        </p:tav>
                                      </p:tavLst>
                                    </p:anim>
                                  </p:childTnLst>
                                </p:cTn>
                              </p:par>
                            </p:childTnLst>
                          </p:cTn>
                        </p:par>
                        <p:par>
                          <p:cTn id="74" fill="hold">
                            <p:stCondLst>
                              <p:cond delay="7000"/>
                            </p:stCondLst>
                            <p:childTnLst>
                              <p:par>
                                <p:cTn id="75" presetID="2" presetClass="entr" presetSubtype="4" fill="hold" grpId="0" nodeType="afterEffect">
                                  <p:stCondLst>
                                    <p:cond delay="0"/>
                                  </p:stCondLst>
                                  <p:childTnLst>
                                    <p:set>
                                      <p:cBhvr>
                                        <p:cTn id="76" dur="1" fill="hold">
                                          <p:stCondLst>
                                            <p:cond delay="0"/>
                                          </p:stCondLst>
                                        </p:cTn>
                                        <p:tgtEl>
                                          <p:spTgt spid="9">
                                            <p:txEl>
                                              <p:pRg st="13" end="13"/>
                                            </p:txEl>
                                          </p:spTgt>
                                        </p:tgtEl>
                                        <p:attrNameLst>
                                          <p:attrName>style.visibility</p:attrName>
                                        </p:attrNameLst>
                                      </p:cBhvr>
                                      <p:to>
                                        <p:strVal val="visible"/>
                                      </p:to>
                                    </p:set>
                                    <p:anim calcmode="lin" valueType="num">
                                      <p:cBhvr additive="base">
                                        <p:cTn id="77" dur="500" fill="hold"/>
                                        <p:tgtEl>
                                          <p:spTgt spid="9">
                                            <p:txEl>
                                              <p:pRg st="13" end="13"/>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9">
                                            <p:txEl>
                                              <p:pRg st="13" end="13"/>
                                            </p:txEl>
                                          </p:spTgt>
                                        </p:tgtEl>
                                        <p:attrNameLst>
                                          <p:attrName>ppt_y</p:attrName>
                                        </p:attrNameLst>
                                      </p:cBhvr>
                                      <p:tavLst>
                                        <p:tav tm="0">
                                          <p:val>
                                            <p:strVal val="1+#ppt_h/2"/>
                                          </p:val>
                                        </p:tav>
                                        <p:tav tm="100000">
                                          <p:val>
                                            <p:strVal val="#ppt_y"/>
                                          </p:val>
                                        </p:tav>
                                      </p:tavLst>
                                    </p:anim>
                                  </p:childTnLst>
                                </p:cTn>
                              </p:par>
                            </p:childTnLst>
                          </p:cTn>
                        </p:par>
                        <p:par>
                          <p:cTn id="79" fill="hold">
                            <p:stCondLst>
                              <p:cond delay="7500"/>
                            </p:stCondLst>
                            <p:childTnLst>
                              <p:par>
                                <p:cTn id="80" presetID="2" presetClass="entr" presetSubtype="4" fill="hold" grpId="0" nodeType="afterEffect">
                                  <p:stCondLst>
                                    <p:cond delay="0"/>
                                  </p:stCondLst>
                                  <p:childTnLst>
                                    <p:set>
                                      <p:cBhvr>
                                        <p:cTn id="81" dur="1" fill="hold">
                                          <p:stCondLst>
                                            <p:cond delay="0"/>
                                          </p:stCondLst>
                                        </p:cTn>
                                        <p:tgtEl>
                                          <p:spTgt spid="9">
                                            <p:txEl>
                                              <p:pRg st="14" end="14"/>
                                            </p:txEl>
                                          </p:spTgt>
                                        </p:tgtEl>
                                        <p:attrNameLst>
                                          <p:attrName>style.visibility</p:attrName>
                                        </p:attrNameLst>
                                      </p:cBhvr>
                                      <p:to>
                                        <p:strVal val="visible"/>
                                      </p:to>
                                    </p:set>
                                    <p:anim calcmode="lin" valueType="num">
                                      <p:cBhvr additive="base">
                                        <p:cTn id="82" dur="500" fill="hold"/>
                                        <p:tgtEl>
                                          <p:spTgt spid="9">
                                            <p:txEl>
                                              <p:pRg st="14" end="14"/>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9">
                                            <p:txEl>
                                              <p:pRg st="14" end="14"/>
                                            </p:txEl>
                                          </p:spTgt>
                                        </p:tgtEl>
                                        <p:attrNameLst>
                                          <p:attrName>ppt_y</p:attrName>
                                        </p:attrNameLst>
                                      </p:cBhvr>
                                      <p:tavLst>
                                        <p:tav tm="0">
                                          <p:val>
                                            <p:strVal val="1+#ppt_h/2"/>
                                          </p:val>
                                        </p:tav>
                                        <p:tav tm="100000">
                                          <p:val>
                                            <p:strVal val="#ppt_y"/>
                                          </p:val>
                                        </p:tav>
                                      </p:tavLst>
                                    </p:anim>
                                  </p:childTnLst>
                                </p:cTn>
                              </p:par>
                            </p:childTnLst>
                          </p:cTn>
                        </p:par>
                        <p:par>
                          <p:cTn id="84" fill="hold">
                            <p:stCondLst>
                              <p:cond delay="8000"/>
                            </p:stCondLst>
                            <p:childTnLst>
                              <p:par>
                                <p:cTn id="85" presetID="2" presetClass="entr" presetSubtype="4" fill="hold" grpId="0" nodeType="afterEffect">
                                  <p:stCondLst>
                                    <p:cond delay="0"/>
                                  </p:stCondLst>
                                  <p:childTnLst>
                                    <p:set>
                                      <p:cBhvr>
                                        <p:cTn id="86" dur="1" fill="hold">
                                          <p:stCondLst>
                                            <p:cond delay="0"/>
                                          </p:stCondLst>
                                        </p:cTn>
                                        <p:tgtEl>
                                          <p:spTgt spid="9">
                                            <p:txEl>
                                              <p:pRg st="15" end="15"/>
                                            </p:txEl>
                                          </p:spTgt>
                                        </p:tgtEl>
                                        <p:attrNameLst>
                                          <p:attrName>style.visibility</p:attrName>
                                        </p:attrNameLst>
                                      </p:cBhvr>
                                      <p:to>
                                        <p:strVal val="visible"/>
                                      </p:to>
                                    </p:set>
                                    <p:anim calcmode="lin" valueType="num">
                                      <p:cBhvr additive="base">
                                        <p:cTn id="87" dur="500" fill="hold"/>
                                        <p:tgtEl>
                                          <p:spTgt spid="9">
                                            <p:txEl>
                                              <p:pRg st="15" end="15"/>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9">
                                            <p:txEl>
                                              <p:pRg st="15" end="15"/>
                                            </p:txEl>
                                          </p:spTgt>
                                        </p:tgtEl>
                                        <p:attrNameLst>
                                          <p:attrName>ppt_y</p:attrName>
                                        </p:attrNameLst>
                                      </p:cBhvr>
                                      <p:tavLst>
                                        <p:tav tm="0">
                                          <p:val>
                                            <p:strVal val="1+#ppt_h/2"/>
                                          </p:val>
                                        </p:tav>
                                        <p:tav tm="100000">
                                          <p:val>
                                            <p:strVal val="#ppt_y"/>
                                          </p:val>
                                        </p:tav>
                                      </p:tavLst>
                                    </p:anim>
                                  </p:childTnLst>
                                </p:cTn>
                              </p:par>
                            </p:childTnLst>
                          </p:cTn>
                        </p:par>
                        <p:par>
                          <p:cTn id="89" fill="hold">
                            <p:stCondLst>
                              <p:cond delay="8500"/>
                            </p:stCondLst>
                            <p:childTnLst>
                              <p:par>
                                <p:cTn id="90" presetID="2" presetClass="entr" presetSubtype="4" fill="hold" grpId="0" nodeType="afterEffect">
                                  <p:stCondLst>
                                    <p:cond delay="0"/>
                                  </p:stCondLst>
                                  <p:childTnLst>
                                    <p:set>
                                      <p:cBhvr>
                                        <p:cTn id="91" dur="1" fill="hold">
                                          <p:stCondLst>
                                            <p:cond delay="0"/>
                                          </p:stCondLst>
                                        </p:cTn>
                                        <p:tgtEl>
                                          <p:spTgt spid="9">
                                            <p:txEl>
                                              <p:pRg st="16" end="16"/>
                                            </p:txEl>
                                          </p:spTgt>
                                        </p:tgtEl>
                                        <p:attrNameLst>
                                          <p:attrName>style.visibility</p:attrName>
                                        </p:attrNameLst>
                                      </p:cBhvr>
                                      <p:to>
                                        <p:strVal val="visible"/>
                                      </p:to>
                                    </p:set>
                                    <p:anim calcmode="lin" valueType="num">
                                      <p:cBhvr additive="base">
                                        <p:cTn id="92" dur="500" fill="hold"/>
                                        <p:tgtEl>
                                          <p:spTgt spid="9">
                                            <p:txEl>
                                              <p:pRg st="16" end="16"/>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9">
                                            <p:txEl>
                                              <p:pRg st="16" end="16"/>
                                            </p:txEl>
                                          </p:spTgt>
                                        </p:tgtEl>
                                        <p:attrNameLst>
                                          <p:attrName>ppt_y</p:attrName>
                                        </p:attrNameLst>
                                      </p:cBhvr>
                                      <p:tavLst>
                                        <p:tav tm="0">
                                          <p:val>
                                            <p:strVal val="1+#ppt_h/2"/>
                                          </p:val>
                                        </p:tav>
                                        <p:tav tm="100000">
                                          <p:val>
                                            <p:strVal val="#ppt_y"/>
                                          </p:val>
                                        </p:tav>
                                      </p:tavLst>
                                    </p:anim>
                                  </p:childTnLst>
                                </p:cTn>
                              </p:par>
                            </p:childTnLst>
                          </p:cTn>
                        </p:par>
                        <p:par>
                          <p:cTn id="94" fill="hold">
                            <p:stCondLst>
                              <p:cond delay="9000"/>
                            </p:stCondLst>
                            <p:childTnLst>
                              <p:par>
                                <p:cTn id="95" presetID="2" presetClass="entr" presetSubtype="4" fill="hold" grpId="0" nodeType="afterEffect">
                                  <p:stCondLst>
                                    <p:cond delay="0"/>
                                  </p:stCondLst>
                                  <p:childTnLst>
                                    <p:set>
                                      <p:cBhvr>
                                        <p:cTn id="96" dur="1" fill="hold">
                                          <p:stCondLst>
                                            <p:cond delay="0"/>
                                          </p:stCondLst>
                                        </p:cTn>
                                        <p:tgtEl>
                                          <p:spTgt spid="9">
                                            <p:txEl>
                                              <p:pRg st="17" end="17"/>
                                            </p:txEl>
                                          </p:spTgt>
                                        </p:tgtEl>
                                        <p:attrNameLst>
                                          <p:attrName>style.visibility</p:attrName>
                                        </p:attrNameLst>
                                      </p:cBhvr>
                                      <p:to>
                                        <p:strVal val="visible"/>
                                      </p:to>
                                    </p:set>
                                    <p:anim calcmode="lin" valueType="num">
                                      <p:cBhvr additive="base">
                                        <p:cTn id="97" dur="500" fill="hold"/>
                                        <p:tgtEl>
                                          <p:spTgt spid="9">
                                            <p:txEl>
                                              <p:pRg st="17" end="17"/>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9">
                                            <p:txEl>
                                              <p:pRg st="17" end="17"/>
                                            </p:txEl>
                                          </p:spTgt>
                                        </p:tgtEl>
                                        <p:attrNameLst>
                                          <p:attrName>ppt_y</p:attrName>
                                        </p:attrNameLst>
                                      </p:cBhvr>
                                      <p:tavLst>
                                        <p:tav tm="0">
                                          <p:val>
                                            <p:strVal val="1+#ppt_h/2"/>
                                          </p:val>
                                        </p:tav>
                                        <p:tav tm="100000">
                                          <p:val>
                                            <p:strVal val="#ppt_y"/>
                                          </p:val>
                                        </p:tav>
                                      </p:tavLst>
                                    </p:anim>
                                  </p:childTnLst>
                                </p:cTn>
                              </p:par>
                            </p:childTnLst>
                          </p:cTn>
                        </p:par>
                        <p:par>
                          <p:cTn id="99" fill="hold">
                            <p:stCondLst>
                              <p:cond delay="9500"/>
                            </p:stCondLst>
                            <p:childTnLst>
                              <p:par>
                                <p:cTn id="100" presetID="2" presetClass="entr" presetSubtype="4" fill="hold" grpId="0" nodeType="afterEffect">
                                  <p:stCondLst>
                                    <p:cond delay="0"/>
                                  </p:stCondLst>
                                  <p:childTnLst>
                                    <p:set>
                                      <p:cBhvr>
                                        <p:cTn id="101" dur="1" fill="hold">
                                          <p:stCondLst>
                                            <p:cond delay="0"/>
                                          </p:stCondLst>
                                        </p:cTn>
                                        <p:tgtEl>
                                          <p:spTgt spid="9">
                                            <p:txEl>
                                              <p:pRg st="18" end="18"/>
                                            </p:txEl>
                                          </p:spTgt>
                                        </p:tgtEl>
                                        <p:attrNameLst>
                                          <p:attrName>style.visibility</p:attrName>
                                        </p:attrNameLst>
                                      </p:cBhvr>
                                      <p:to>
                                        <p:strVal val="visible"/>
                                      </p:to>
                                    </p:set>
                                    <p:anim calcmode="lin" valueType="num">
                                      <p:cBhvr additive="base">
                                        <p:cTn id="102" dur="500" fill="hold"/>
                                        <p:tgtEl>
                                          <p:spTgt spid="9">
                                            <p:txEl>
                                              <p:pRg st="18" end="18"/>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9">
                                            <p:txEl>
                                              <p:pRg st="18" end="18"/>
                                            </p:txEl>
                                          </p:spTgt>
                                        </p:tgtEl>
                                        <p:attrNameLst>
                                          <p:attrName>ppt_y</p:attrName>
                                        </p:attrNameLst>
                                      </p:cBhvr>
                                      <p:tavLst>
                                        <p:tav tm="0">
                                          <p:val>
                                            <p:strVal val="1+#ppt_h/2"/>
                                          </p:val>
                                        </p:tav>
                                        <p:tav tm="100000">
                                          <p:val>
                                            <p:strVal val="#ppt_y"/>
                                          </p:val>
                                        </p:tav>
                                      </p:tavLst>
                                    </p:anim>
                                  </p:childTnLst>
                                </p:cTn>
                              </p:par>
                            </p:childTnLst>
                          </p:cTn>
                        </p:par>
                        <p:par>
                          <p:cTn id="104" fill="hold">
                            <p:stCondLst>
                              <p:cond delay="10000"/>
                            </p:stCondLst>
                            <p:childTnLst>
                              <p:par>
                                <p:cTn id="105" presetID="2" presetClass="entr" presetSubtype="4" fill="hold" grpId="0" nodeType="afterEffect">
                                  <p:stCondLst>
                                    <p:cond delay="0"/>
                                  </p:stCondLst>
                                  <p:childTnLst>
                                    <p:set>
                                      <p:cBhvr>
                                        <p:cTn id="106" dur="1" fill="hold">
                                          <p:stCondLst>
                                            <p:cond delay="0"/>
                                          </p:stCondLst>
                                        </p:cTn>
                                        <p:tgtEl>
                                          <p:spTgt spid="9">
                                            <p:txEl>
                                              <p:pRg st="19" end="19"/>
                                            </p:txEl>
                                          </p:spTgt>
                                        </p:tgtEl>
                                        <p:attrNameLst>
                                          <p:attrName>style.visibility</p:attrName>
                                        </p:attrNameLst>
                                      </p:cBhvr>
                                      <p:to>
                                        <p:strVal val="visible"/>
                                      </p:to>
                                    </p:set>
                                    <p:anim calcmode="lin" valueType="num">
                                      <p:cBhvr additive="base">
                                        <p:cTn id="107" dur="500" fill="hold"/>
                                        <p:tgtEl>
                                          <p:spTgt spid="9">
                                            <p:txEl>
                                              <p:pRg st="19" end="19"/>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9">
                                            <p:txEl>
                                              <p:pRg st="19" end="19"/>
                                            </p:txEl>
                                          </p:spTgt>
                                        </p:tgtEl>
                                        <p:attrNameLst>
                                          <p:attrName>ppt_y</p:attrName>
                                        </p:attrNameLst>
                                      </p:cBhvr>
                                      <p:tavLst>
                                        <p:tav tm="0">
                                          <p:val>
                                            <p:strVal val="1+#ppt_h/2"/>
                                          </p:val>
                                        </p:tav>
                                        <p:tav tm="100000">
                                          <p:val>
                                            <p:strVal val="#ppt_y"/>
                                          </p:val>
                                        </p:tav>
                                      </p:tavLst>
                                    </p:anim>
                                  </p:childTnLst>
                                </p:cTn>
                              </p:par>
                            </p:childTnLst>
                          </p:cTn>
                        </p:par>
                        <p:par>
                          <p:cTn id="109" fill="hold">
                            <p:stCondLst>
                              <p:cond delay="10500"/>
                            </p:stCondLst>
                            <p:childTnLst>
                              <p:par>
                                <p:cTn id="110" presetID="2" presetClass="entr" presetSubtype="4" fill="hold" grpId="0" nodeType="afterEffect">
                                  <p:stCondLst>
                                    <p:cond delay="0"/>
                                  </p:stCondLst>
                                  <p:childTnLst>
                                    <p:set>
                                      <p:cBhvr>
                                        <p:cTn id="111" dur="1" fill="hold">
                                          <p:stCondLst>
                                            <p:cond delay="0"/>
                                          </p:stCondLst>
                                        </p:cTn>
                                        <p:tgtEl>
                                          <p:spTgt spid="9">
                                            <p:txEl>
                                              <p:pRg st="20" end="20"/>
                                            </p:txEl>
                                          </p:spTgt>
                                        </p:tgtEl>
                                        <p:attrNameLst>
                                          <p:attrName>style.visibility</p:attrName>
                                        </p:attrNameLst>
                                      </p:cBhvr>
                                      <p:to>
                                        <p:strVal val="visible"/>
                                      </p:to>
                                    </p:set>
                                    <p:anim calcmode="lin" valueType="num">
                                      <p:cBhvr additive="base">
                                        <p:cTn id="112" dur="500" fill="hold"/>
                                        <p:tgtEl>
                                          <p:spTgt spid="9">
                                            <p:txEl>
                                              <p:pRg st="20" end="20"/>
                                            </p:txEl>
                                          </p:spTgt>
                                        </p:tgtEl>
                                        <p:attrNameLst>
                                          <p:attrName>ppt_x</p:attrName>
                                        </p:attrNameLst>
                                      </p:cBhvr>
                                      <p:tavLst>
                                        <p:tav tm="0">
                                          <p:val>
                                            <p:strVal val="#ppt_x"/>
                                          </p:val>
                                        </p:tav>
                                        <p:tav tm="100000">
                                          <p:val>
                                            <p:strVal val="#ppt_x"/>
                                          </p:val>
                                        </p:tav>
                                      </p:tavLst>
                                    </p:anim>
                                    <p:anim calcmode="lin" valueType="num">
                                      <p:cBhvr additive="base">
                                        <p:cTn id="113" dur="500" fill="hold"/>
                                        <p:tgtEl>
                                          <p:spTgt spid="9">
                                            <p:txEl>
                                              <p:pRg st="20" end="2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BC3BA8D-7252-DBB6-B948-B1B9CBA8FC2F}"/>
              </a:ext>
            </a:extLst>
          </p:cNvPr>
          <p:cNvPicPr>
            <a:picLocks noChangeAspect="1"/>
          </p:cNvPicPr>
          <p:nvPr/>
        </p:nvPicPr>
        <p:blipFill>
          <a:blip r:embed="rId2">
            <a:alphaModFix/>
            <a:extLst>
              <a:ext uri="{BEBA8EAE-BF5A-486C-A8C5-ECC9F3942E4B}">
                <a14:imgProps xmlns:a14="http://schemas.microsoft.com/office/drawing/2010/main">
                  <a14:imgLayer r:embed="rId3">
                    <a14:imgEffect>
                      <a14:saturation sat="92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8" name="Picture 7">
            <a:extLst>
              <a:ext uri="{FF2B5EF4-FFF2-40B4-BE49-F238E27FC236}">
                <a16:creationId xmlns:a16="http://schemas.microsoft.com/office/drawing/2014/main" id="{5E8E262B-82A2-176E-1743-FEA3C548DD6D}"/>
              </a:ext>
            </a:extLst>
          </p:cNvPr>
          <p:cNvPicPr>
            <a:picLocks noChangeAspect="1"/>
          </p:cNvPicPr>
          <p:nvPr/>
        </p:nvPicPr>
        <p:blipFill>
          <a:blip r:embed="rId4">
            <a:alphaModFix amt="92000"/>
            <a:extLst>
              <a:ext uri="{BEBA8EAE-BF5A-486C-A8C5-ECC9F3942E4B}">
                <a14:imgProps xmlns:a14="http://schemas.microsoft.com/office/drawing/2010/main">
                  <a14:imgLayer r:embed="rId5">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916658"/>
          </a:xfrm>
          <a:prstGeom prst="rect">
            <a:avLst/>
          </a:prstGeom>
        </p:spPr>
      </p:pic>
      <p:sp>
        <p:nvSpPr>
          <p:cNvPr id="3" name="TextBox 2">
            <a:extLst>
              <a:ext uri="{FF2B5EF4-FFF2-40B4-BE49-F238E27FC236}">
                <a16:creationId xmlns:a16="http://schemas.microsoft.com/office/drawing/2014/main" id="{91364299-E74C-A297-C8B2-44EAACADAD28}"/>
              </a:ext>
            </a:extLst>
          </p:cNvPr>
          <p:cNvSpPr txBox="1"/>
          <p:nvPr/>
        </p:nvSpPr>
        <p:spPr>
          <a:xfrm>
            <a:off x="2041236" y="802799"/>
            <a:ext cx="6096000" cy="476284"/>
          </a:xfrm>
          <a:prstGeom prst="rect">
            <a:avLst/>
          </a:prstGeom>
          <a:noFill/>
        </p:spPr>
        <p:txBody>
          <a:bodyPr wrap="square">
            <a:spAutoFit/>
          </a:bodyPr>
          <a:lstStyle/>
          <a:p>
            <a:pPr marL="342900" marR="0" lvl="0" indent="-342900" rtl="0">
              <a:lnSpc>
                <a:spcPct val="115000"/>
              </a:lnSpc>
              <a:spcAft>
                <a:spcPts val="1000"/>
              </a:spcAft>
              <a:buFont typeface="+mj-lt"/>
              <a:buAutoNum type="romanUcPeriod"/>
            </a:pPr>
            <a:r>
              <a:rPr lang="en-US" sz="2400" b="1"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Introduction</a:t>
            </a:r>
            <a:endParaRPr lang="en-US" sz="2400"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969BC864-3057-18F9-56F1-AE2BD22D4BE2}"/>
              </a:ext>
            </a:extLst>
          </p:cNvPr>
          <p:cNvSpPr txBox="1"/>
          <p:nvPr/>
        </p:nvSpPr>
        <p:spPr>
          <a:xfrm>
            <a:off x="2041236" y="1252141"/>
            <a:ext cx="6096000" cy="4893647"/>
          </a:xfrm>
          <a:prstGeom prst="rect">
            <a:avLst/>
          </a:prstGeom>
          <a:noFill/>
        </p:spPr>
        <p:txBody>
          <a:bodyPr wrap="square">
            <a:spAutoFit/>
          </a:bodyPr>
          <a:lstStyle/>
          <a:p>
            <a:r>
              <a:rPr lang="en-US" sz="2400" dirty="0">
                <a:solidFill>
                  <a:schemeClr val="accent2">
                    <a:lumMod val="20000"/>
                    <a:lumOff val="80000"/>
                  </a:schemeClr>
                </a:solidFill>
                <a:latin typeface="Agency FB" panose="020B0503020202020204" pitchFamily="34" charset="0"/>
                <a:ea typeface="ADLaM Display" panose="020F0502020204030204" pitchFamily="2" charset="0"/>
                <a:cs typeface="ADLaM Display" panose="020F0502020204030204" pitchFamily="2" charset="0"/>
              </a:rPr>
              <a:t>Information and Communication Technologies (ICT) have transformed communication, work, and information sharing in the digital age. They include tools and platforms that support communication, collaboration, information management, and software development. Major companies like Google and Microsoft provide widely used services such as cloud storage, productivity tools, and collaboration platforms. Technologies like GIT and GitHub are essential for software development, enabling version control and teamwork. ICT also encompasses real-time communication technologies, which support instant messaging, voice and video calls, and are vital for remote work and global collaboration.</a:t>
            </a:r>
          </a:p>
        </p:txBody>
      </p:sp>
    </p:spTree>
    <p:extLst>
      <p:ext uri="{BB962C8B-B14F-4D97-AF65-F5344CB8AC3E}">
        <p14:creationId xmlns:p14="http://schemas.microsoft.com/office/powerpoint/2010/main" val="306127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4" presetClass="entr" presetSubtype="5" fill="hold"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randombar(vertical)">
                                      <p:cBhvr>
                                        <p:cTn id="11"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0EEEB6-0DCF-2F0D-AD35-8A38B2F5CD1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413A73B6-2906-CB94-BF35-79759A16B2C3}"/>
              </a:ext>
            </a:extLst>
          </p:cNvPr>
          <p:cNvSpPr txBox="1"/>
          <p:nvPr/>
        </p:nvSpPr>
        <p:spPr>
          <a:xfrm>
            <a:off x="2219135" y="631578"/>
            <a:ext cx="6162674" cy="4762842"/>
          </a:xfrm>
          <a:prstGeom prst="rect">
            <a:avLst/>
          </a:prstGeom>
          <a:noFill/>
        </p:spPr>
        <p:txBody>
          <a:bodyPr wrap="square">
            <a:spAutoFit/>
          </a:bodyPr>
          <a:lstStyle/>
          <a:p>
            <a:pPr marL="514350" marR="0" lvl="0" indent="-514350" rtl="0">
              <a:lnSpc>
                <a:spcPct val="115000"/>
              </a:lnSpc>
              <a:spcAft>
                <a:spcPts val="1000"/>
              </a:spcAft>
              <a:buFont typeface="+mj-lt"/>
              <a:buAutoNum type="romanUcPeriod" startAt="2"/>
            </a:pPr>
            <a:r>
              <a:rPr lang="en-US" sz="2400" b="1"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What Is </a:t>
            </a:r>
            <a:r>
              <a:rPr lang="en-US" sz="2400" b="1" kern="100" dirty="0">
                <a:solidFill>
                  <a:schemeClr val="accent3">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ICT</a:t>
            </a:r>
            <a:r>
              <a:rPr lang="en-US" sz="2400" b="1"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a:t>
            </a:r>
            <a:endParaRPr lang="en-US" sz="1100"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endParaRPr>
          </a:p>
          <a:p>
            <a:pPr marL="742950" marR="0" lvl="1" indent="-285750" algn="just">
              <a:lnSpc>
                <a:spcPct val="150000"/>
              </a:lnSpc>
              <a:spcBef>
                <a:spcPts val="1500"/>
              </a:spcBef>
              <a:spcAft>
                <a:spcPts val="1500"/>
              </a:spcAft>
              <a:buFont typeface="+mj-lt"/>
              <a:buAutoNum type="arabicPeriod"/>
            </a:pPr>
            <a:r>
              <a:rPr lang="en-US" dirty="0">
                <a:solidFill>
                  <a:schemeClr val="accent2">
                    <a:lumMod val="40000"/>
                    <a:lumOff val="60000"/>
                  </a:schemeClr>
                </a:solidFill>
                <a:effectLst/>
                <a:latin typeface="Agency FB" panose="020B0503020202020204" pitchFamily="34" charset="0"/>
                <a:ea typeface="Times New Roman" panose="02020603050405020304" pitchFamily="18" charset="0"/>
                <a:cs typeface="Times New Roman" panose="02020603050405020304" pitchFamily="18" charset="0"/>
              </a:rPr>
              <a:t>Definition</a:t>
            </a:r>
            <a:endParaRPr lang="en-US" dirty="0">
              <a:solidFill>
                <a:schemeClr val="accent2">
                  <a:lumMod val="40000"/>
                  <a:lumOff val="60000"/>
                </a:schemeClr>
              </a:solidFill>
              <a:effectLst/>
              <a:latin typeface="Agency FB" panose="020B0503020202020204" pitchFamily="34" charset="0"/>
              <a:ea typeface="Times New Roman" panose="02020603050405020304" pitchFamily="18" charset="0"/>
            </a:endParaRPr>
          </a:p>
          <a:p>
            <a:pPr marL="0" marR="0">
              <a:lnSpc>
                <a:spcPct val="150000"/>
              </a:lnSpc>
              <a:buNone/>
            </a:pPr>
            <a:r>
              <a:rPr lang="en-US" sz="2000" b="1" i="1" u="dotDotDash" dirty="0">
                <a:solidFill>
                  <a:schemeClr val="accent3">
                    <a:lumMod val="60000"/>
                    <a:lumOff val="40000"/>
                  </a:schemeClr>
                </a:solidFill>
                <a:effectLst/>
                <a:latin typeface="Agency FB" panose="020B0503020202020204" pitchFamily="34" charset="0"/>
                <a:ea typeface="Times New Roman" panose="02020603050405020304" pitchFamily="18" charset="0"/>
                <a:cs typeface="Times New Roman" panose="02020603050405020304" pitchFamily="18" charset="0"/>
              </a:rPr>
              <a:t>ICT</a:t>
            </a:r>
            <a:r>
              <a:rPr lang="en-US" sz="2000"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 or </a:t>
            </a:r>
            <a:r>
              <a:rPr lang="en-US" sz="2000" b="1" dirty="0">
                <a:solidFill>
                  <a:schemeClr val="accent3">
                    <a:lumMod val="60000"/>
                    <a:lumOff val="40000"/>
                  </a:schemeClr>
                </a:solidFill>
                <a:effectLst/>
                <a:latin typeface="Agency FB" panose="020B0503020202020204" pitchFamily="34" charset="0"/>
                <a:ea typeface="Times New Roman" panose="02020603050405020304" pitchFamily="18" charset="0"/>
                <a:cs typeface="Times New Roman" panose="02020603050405020304" pitchFamily="18" charset="0"/>
              </a:rPr>
              <a:t>I</a:t>
            </a:r>
            <a:r>
              <a:rPr lang="en-US" sz="2000" b="1"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nformation and </a:t>
            </a:r>
            <a:r>
              <a:rPr lang="en-US" sz="2000" b="1" dirty="0">
                <a:solidFill>
                  <a:schemeClr val="accent3">
                    <a:lumMod val="60000"/>
                    <a:lumOff val="40000"/>
                  </a:schemeClr>
                </a:solidFill>
                <a:effectLst/>
                <a:latin typeface="Agency FB" panose="020B0503020202020204" pitchFamily="34" charset="0"/>
                <a:ea typeface="Times New Roman" panose="02020603050405020304" pitchFamily="18" charset="0"/>
                <a:cs typeface="Times New Roman" panose="02020603050405020304" pitchFamily="18" charset="0"/>
              </a:rPr>
              <a:t>C</a:t>
            </a:r>
            <a:r>
              <a:rPr lang="en-US" sz="2000" b="1"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ommunication </a:t>
            </a:r>
            <a:r>
              <a:rPr lang="en-US" sz="2000" b="1" dirty="0">
                <a:solidFill>
                  <a:schemeClr val="accent3">
                    <a:lumMod val="60000"/>
                    <a:lumOff val="40000"/>
                  </a:schemeClr>
                </a:solidFill>
                <a:effectLst/>
                <a:latin typeface="Agency FB" panose="020B0503020202020204" pitchFamily="34" charset="0"/>
                <a:ea typeface="Times New Roman" panose="02020603050405020304" pitchFamily="18" charset="0"/>
                <a:cs typeface="Times New Roman" panose="02020603050405020304" pitchFamily="18" charset="0"/>
              </a:rPr>
              <a:t>T</a:t>
            </a:r>
            <a:r>
              <a:rPr lang="en-US" sz="2000" b="1"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echnology</a:t>
            </a:r>
            <a:r>
              <a:rPr lang="en-US" sz="2000"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 is an umbrella term that includes all technologies used to handle information and aid communication.</a:t>
            </a:r>
            <a:endParaRPr lang="en-US" sz="2000" dirty="0">
              <a:solidFill>
                <a:schemeClr val="accent2">
                  <a:lumMod val="20000"/>
                  <a:lumOff val="80000"/>
                </a:schemeClr>
              </a:solidFill>
              <a:effectLst/>
              <a:latin typeface="Agency FB" panose="020B0503020202020204" pitchFamily="34" charset="0"/>
              <a:ea typeface="Times New Roman" panose="02020603050405020304" pitchFamily="18" charset="0"/>
            </a:endParaRPr>
          </a:p>
          <a:p>
            <a:pPr marL="0" marR="0" algn="just">
              <a:lnSpc>
                <a:spcPct val="150000"/>
              </a:lnSpc>
              <a:spcBef>
                <a:spcPts val="1500"/>
              </a:spcBef>
              <a:spcAft>
                <a:spcPts val="1500"/>
              </a:spcAft>
              <a:buNone/>
            </a:pPr>
            <a:r>
              <a:rPr lang="en-US" sz="2000"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It is often considered an extended synonym for IT (Information Technology), but </a:t>
            </a:r>
            <a:r>
              <a:rPr lang="en-US" sz="2000" dirty="0">
                <a:solidFill>
                  <a:schemeClr val="accent3">
                    <a:lumMod val="60000"/>
                    <a:lumOff val="40000"/>
                  </a:schemeClr>
                </a:solidFill>
                <a:effectLst/>
                <a:latin typeface="Agency FB" panose="020B0503020202020204" pitchFamily="34" charset="0"/>
                <a:ea typeface="Times New Roman" panose="02020603050405020304" pitchFamily="18" charset="0"/>
                <a:cs typeface="Times New Roman" panose="02020603050405020304" pitchFamily="18" charset="0"/>
              </a:rPr>
              <a:t>ICT</a:t>
            </a:r>
            <a:r>
              <a:rPr lang="en-US" sz="2000"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 focuses more specifically on the role of unified communications and the integration of telecommunications (telephone lines and wireless signals) and computers.</a:t>
            </a:r>
            <a:endParaRPr lang="en-US" sz="2000" dirty="0">
              <a:solidFill>
                <a:schemeClr val="accent2">
                  <a:lumMod val="20000"/>
                  <a:lumOff val="80000"/>
                </a:schemeClr>
              </a:solidFill>
              <a:effectLst/>
              <a:latin typeface="Agency FB" panose="020B0503020202020204" pitchFamily="34" charset="0"/>
              <a:ea typeface="Times New Roman" panose="02020603050405020304" pitchFamily="18" charset="0"/>
            </a:endParaRPr>
          </a:p>
        </p:txBody>
      </p:sp>
      <p:sp>
        <p:nvSpPr>
          <p:cNvPr id="6" name="TextBox 5">
            <a:extLst>
              <a:ext uri="{FF2B5EF4-FFF2-40B4-BE49-F238E27FC236}">
                <a16:creationId xmlns:a16="http://schemas.microsoft.com/office/drawing/2014/main" id="{23FF3BBF-9BF3-89E4-1539-2E03C3DF2F6E}"/>
              </a:ext>
            </a:extLst>
          </p:cNvPr>
          <p:cNvSpPr txBox="1"/>
          <p:nvPr/>
        </p:nvSpPr>
        <p:spPr>
          <a:xfrm>
            <a:off x="2219135" y="5394420"/>
            <a:ext cx="6158484" cy="453394"/>
          </a:xfrm>
          <a:prstGeom prst="rect">
            <a:avLst/>
          </a:prstGeom>
          <a:noFill/>
        </p:spPr>
        <p:txBody>
          <a:bodyPr wrap="square">
            <a:spAutoFit/>
          </a:bodyPr>
          <a:lstStyle/>
          <a:p>
            <a:pPr marL="0" marR="0">
              <a:lnSpc>
                <a:spcPct val="150000"/>
              </a:lnSpc>
              <a:buNone/>
            </a:pPr>
            <a:r>
              <a:rPr lang="en-US" sz="1800"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The Three Core Elements:</a:t>
            </a:r>
            <a:endParaRPr lang="en-US" sz="1800" dirty="0">
              <a:solidFill>
                <a:schemeClr val="accent2">
                  <a:lumMod val="20000"/>
                  <a:lumOff val="80000"/>
                </a:schemeClr>
              </a:solidFill>
              <a:effectLst/>
              <a:latin typeface="Agency FB" panose="020B0503020202020204" pitchFamily="34" charset="0"/>
              <a:ea typeface="Times New Roman" panose="02020603050405020304" pitchFamily="18" charset="0"/>
            </a:endParaRPr>
          </a:p>
        </p:txBody>
      </p:sp>
      <p:sp>
        <p:nvSpPr>
          <p:cNvPr id="8" name="TextBox 7">
            <a:extLst>
              <a:ext uri="{FF2B5EF4-FFF2-40B4-BE49-F238E27FC236}">
                <a16:creationId xmlns:a16="http://schemas.microsoft.com/office/drawing/2014/main" id="{9D906750-1EDA-BA24-9B3E-3EE15F012746}"/>
              </a:ext>
            </a:extLst>
          </p:cNvPr>
          <p:cNvSpPr txBox="1"/>
          <p:nvPr/>
        </p:nvSpPr>
        <p:spPr>
          <a:xfrm>
            <a:off x="2356866" y="2138291"/>
            <a:ext cx="6158484" cy="873572"/>
          </a:xfrm>
          <a:prstGeom prst="rect">
            <a:avLst/>
          </a:prstGeom>
          <a:noFill/>
        </p:spPr>
        <p:txBody>
          <a:bodyPr wrap="square">
            <a:spAutoFit/>
          </a:bodyPr>
          <a:lstStyle/>
          <a:p>
            <a:pPr marL="0" marR="0">
              <a:lnSpc>
                <a:spcPct val="150000"/>
              </a:lnSpc>
              <a:buNone/>
            </a:pPr>
            <a:r>
              <a:rPr lang="en-US" sz="1800" b="1" u="sng" dirty="0">
                <a:solidFill>
                  <a:schemeClr val="accent2">
                    <a:lumMod val="75000"/>
                  </a:schemeClr>
                </a:solidFill>
                <a:effectLst/>
                <a:latin typeface="Agency FB" panose="020B0503020202020204" pitchFamily="34" charset="0"/>
                <a:ea typeface="Times New Roman" panose="02020603050405020304" pitchFamily="18" charset="0"/>
                <a:cs typeface="Times New Roman" panose="02020603050405020304" pitchFamily="18" charset="0"/>
              </a:rPr>
              <a:t>Information</a:t>
            </a:r>
            <a:r>
              <a:rPr lang="en-US" sz="1800" b="1"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a:t>
            </a:r>
            <a:r>
              <a:rPr lang="en-US" sz="1800" dirty="0">
                <a:solidFill>
                  <a:schemeClr val="accent2">
                    <a:lumMod val="75000"/>
                  </a:schemeClr>
                </a:solidFill>
                <a:effectLst/>
                <a:latin typeface="Agency FB" panose="020B0503020202020204" pitchFamily="34" charset="0"/>
                <a:ea typeface="Times New Roman" panose="02020603050405020304" pitchFamily="18" charset="0"/>
                <a:cs typeface="Times New Roman" panose="02020603050405020304" pitchFamily="18" charset="0"/>
              </a:rPr>
              <a:t> </a:t>
            </a:r>
            <a:r>
              <a:rPr lang="en-US" sz="1800"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The data being processed, stored, or retrieved (videos, text, numbers, images).</a:t>
            </a:r>
            <a:endParaRPr lang="en-US" sz="1800" dirty="0">
              <a:solidFill>
                <a:schemeClr val="accent2">
                  <a:lumMod val="20000"/>
                  <a:lumOff val="80000"/>
                </a:schemeClr>
              </a:solidFill>
              <a:effectLst/>
              <a:latin typeface="Agency FB" panose="020B0503020202020204" pitchFamily="34" charset="0"/>
              <a:ea typeface="Times New Roman" panose="02020603050405020304" pitchFamily="18" charset="0"/>
            </a:endParaRPr>
          </a:p>
        </p:txBody>
      </p:sp>
      <p:sp>
        <p:nvSpPr>
          <p:cNvPr id="10" name="TextBox 9">
            <a:extLst>
              <a:ext uri="{FF2B5EF4-FFF2-40B4-BE49-F238E27FC236}">
                <a16:creationId xmlns:a16="http://schemas.microsoft.com/office/drawing/2014/main" id="{9DDEC204-D1A3-A218-76B8-3336C4BD64CA}"/>
              </a:ext>
            </a:extLst>
          </p:cNvPr>
          <p:cNvSpPr txBox="1"/>
          <p:nvPr/>
        </p:nvSpPr>
        <p:spPr>
          <a:xfrm>
            <a:off x="2356866" y="3028471"/>
            <a:ext cx="6158484" cy="873572"/>
          </a:xfrm>
          <a:prstGeom prst="rect">
            <a:avLst/>
          </a:prstGeom>
          <a:noFill/>
        </p:spPr>
        <p:txBody>
          <a:bodyPr wrap="square">
            <a:spAutoFit/>
          </a:bodyPr>
          <a:lstStyle/>
          <a:p>
            <a:pPr marL="0" marR="0">
              <a:lnSpc>
                <a:spcPct val="150000"/>
              </a:lnSpc>
              <a:buNone/>
            </a:pPr>
            <a:r>
              <a:rPr lang="en-US" sz="1800" b="1" u="sng" dirty="0">
                <a:solidFill>
                  <a:schemeClr val="accent2">
                    <a:lumMod val="75000"/>
                  </a:schemeClr>
                </a:solidFill>
                <a:effectLst/>
                <a:latin typeface="Agency FB" panose="020B0503020202020204" pitchFamily="34" charset="0"/>
                <a:ea typeface="Times New Roman" panose="02020603050405020304" pitchFamily="18" charset="0"/>
                <a:cs typeface="Times New Roman" panose="02020603050405020304" pitchFamily="18" charset="0"/>
              </a:rPr>
              <a:t>Communication</a:t>
            </a:r>
            <a:r>
              <a:rPr lang="en-US" sz="1800" b="1"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a:t>
            </a:r>
            <a:r>
              <a:rPr lang="en-US" sz="1800" dirty="0">
                <a:solidFill>
                  <a:schemeClr val="accent2">
                    <a:lumMod val="75000"/>
                  </a:schemeClr>
                </a:solidFill>
                <a:effectLst/>
                <a:latin typeface="Agency FB" panose="020B0503020202020204" pitchFamily="34" charset="0"/>
                <a:ea typeface="Times New Roman" panose="02020603050405020304" pitchFamily="18" charset="0"/>
                <a:cs typeface="Times New Roman" panose="02020603050405020304" pitchFamily="18" charset="0"/>
              </a:rPr>
              <a:t> </a:t>
            </a:r>
            <a:r>
              <a:rPr lang="en-US" sz="1800"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The transfer of information between people or systems (emails, video calls, broadcasting).</a:t>
            </a:r>
            <a:endParaRPr lang="en-US" sz="1800" dirty="0">
              <a:solidFill>
                <a:schemeClr val="accent2">
                  <a:lumMod val="20000"/>
                  <a:lumOff val="80000"/>
                </a:schemeClr>
              </a:solidFill>
              <a:effectLst/>
              <a:latin typeface="Agency FB" panose="020B0503020202020204" pitchFamily="34" charset="0"/>
              <a:ea typeface="Times New Roman" panose="02020603050405020304" pitchFamily="18" charset="0"/>
            </a:endParaRPr>
          </a:p>
        </p:txBody>
      </p:sp>
      <p:sp>
        <p:nvSpPr>
          <p:cNvPr id="12" name="TextBox 11">
            <a:extLst>
              <a:ext uri="{FF2B5EF4-FFF2-40B4-BE49-F238E27FC236}">
                <a16:creationId xmlns:a16="http://schemas.microsoft.com/office/drawing/2014/main" id="{C76EF157-2B01-BFB0-D6F2-A41D5F6C653F}"/>
              </a:ext>
            </a:extLst>
          </p:cNvPr>
          <p:cNvSpPr txBox="1"/>
          <p:nvPr/>
        </p:nvSpPr>
        <p:spPr>
          <a:xfrm>
            <a:off x="2420874" y="3918651"/>
            <a:ext cx="6158484" cy="453073"/>
          </a:xfrm>
          <a:prstGeom prst="rect">
            <a:avLst/>
          </a:prstGeom>
          <a:noFill/>
        </p:spPr>
        <p:txBody>
          <a:bodyPr wrap="square">
            <a:spAutoFit/>
          </a:bodyPr>
          <a:lstStyle/>
          <a:p>
            <a:pPr marL="0" marR="0" algn="just">
              <a:lnSpc>
                <a:spcPct val="150000"/>
              </a:lnSpc>
              <a:spcBef>
                <a:spcPts val="1500"/>
              </a:spcBef>
              <a:spcAft>
                <a:spcPts val="1500"/>
              </a:spcAft>
              <a:buNone/>
            </a:pPr>
            <a:r>
              <a:rPr lang="en-US" sz="1800" b="1" u="sng" dirty="0">
                <a:solidFill>
                  <a:schemeClr val="accent2">
                    <a:lumMod val="75000"/>
                  </a:schemeClr>
                </a:solidFill>
                <a:effectLst/>
                <a:latin typeface="Agency FB" panose="020B0503020202020204" pitchFamily="34" charset="0"/>
                <a:ea typeface="Times New Roman" panose="02020603050405020304" pitchFamily="18" charset="0"/>
                <a:cs typeface="Times New Roman" panose="02020603050405020304" pitchFamily="18" charset="0"/>
              </a:rPr>
              <a:t>Technology</a:t>
            </a:r>
            <a:r>
              <a:rPr lang="en-US" sz="1800" b="1" dirty="0">
                <a:solidFill>
                  <a:schemeClr val="accent2">
                    <a:lumMod val="75000"/>
                  </a:schemeClr>
                </a:solidFill>
                <a:effectLst/>
                <a:latin typeface="Agency FB" panose="020B0503020202020204" pitchFamily="34" charset="0"/>
                <a:ea typeface="Times New Roman" panose="02020603050405020304" pitchFamily="18" charset="0"/>
                <a:cs typeface="Times New Roman" panose="02020603050405020304" pitchFamily="18" charset="0"/>
              </a:rPr>
              <a:t>:</a:t>
            </a:r>
            <a:r>
              <a:rPr lang="en-US" sz="1800" dirty="0">
                <a:solidFill>
                  <a:schemeClr val="accent2">
                    <a:lumMod val="75000"/>
                  </a:schemeClr>
                </a:solidFill>
                <a:effectLst/>
                <a:latin typeface="Agency FB" panose="020B0503020202020204" pitchFamily="34" charset="0"/>
                <a:ea typeface="Times New Roman" panose="02020603050405020304" pitchFamily="18" charset="0"/>
                <a:cs typeface="Times New Roman" panose="02020603050405020304" pitchFamily="18" charset="0"/>
              </a:rPr>
              <a:t> </a:t>
            </a:r>
            <a:r>
              <a:rPr lang="en-US" sz="1800" dirty="0">
                <a:solidFill>
                  <a:schemeClr val="accent2">
                    <a:lumMod val="20000"/>
                    <a:lumOff val="80000"/>
                  </a:schemeClr>
                </a:solidFill>
                <a:effectLst/>
                <a:latin typeface="Agency FB" panose="020B0503020202020204" pitchFamily="34" charset="0"/>
                <a:ea typeface="Times New Roman" panose="02020603050405020304" pitchFamily="18" charset="0"/>
                <a:cs typeface="Times New Roman" panose="02020603050405020304" pitchFamily="18" charset="0"/>
              </a:rPr>
              <a:t>The hardware and software used to perform these tasks.</a:t>
            </a:r>
            <a:endParaRPr lang="en-US" sz="1800" dirty="0">
              <a:solidFill>
                <a:schemeClr val="accent2">
                  <a:lumMod val="20000"/>
                  <a:lumOff val="80000"/>
                </a:schemeClr>
              </a:solidFill>
              <a:effectLst/>
              <a:latin typeface="Agency FB" panose="020B0503020202020204" pitchFamily="34" charset="0"/>
              <a:ea typeface="Times New Roman" panose="02020603050405020304" pitchFamily="18" charset="0"/>
            </a:endParaRPr>
          </a:p>
        </p:txBody>
      </p:sp>
    </p:spTree>
    <p:extLst>
      <p:ext uri="{BB962C8B-B14F-4D97-AF65-F5344CB8AC3E}">
        <p14:creationId xmlns:p14="http://schemas.microsoft.com/office/powerpoint/2010/main" val="196459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xit" presetSubtype="4" fill="hold" grpId="1" nodeType="clickEffect">
                                  <p:stCondLst>
                                    <p:cond delay="0"/>
                                  </p:stCondLst>
                                  <p:childTnLst>
                                    <p:anim calcmode="lin" valueType="num">
                                      <p:cBhvr additive="base">
                                        <p:cTn id="33" dur="500"/>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4" dur="500"/>
                                        <p:tgtEl>
                                          <p:spTgt spid="4">
                                            <p:txEl>
                                              <p:pRg st="0" end="0"/>
                                            </p:txEl>
                                          </p:spTgt>
                                        </p:tgtEl>
                                        <p:attrNameLst>
                                          <p:attrName>ppt_y</p:attrName>
                                        </p:attrNameLst>
                                      </p:cBhvr>
                                      <p:tavLst>
                                        <p:tav tm="0">
                                          <p:val>
                                            <p:strVal val="ppt_y"/>
                                          </p:val>
                                        </p:tav>
                                        <p:tav tm="100000">
                                          <p:val>
                                            <p:strVal val="1+ppt_h/2"/>
                                          </p:val>
                                        </p:tav>
                                      </p:tavLst>
                                    </p:anim>
                                    <p:set>
                                      <p:cBhvr>
                                        <p:cTn id="35" dur="1" fill="hold">
                                          <p:stCondLst>
                                            <p:cond delay="499"/>
                                          </p:stCondLst>
                                        </p:cTn>
                                        <p:tgtEl>
                                          <p:spTgt spid="4">
                                            <p:txEl>
                                              <p:pRg st="0" end="0"/>
                                            </p:txEl>
                                          </p:spTgt>
                                        </p:tgtEl>
                                        <p:attrNameLst>
                                          <p:attrName>style.visibility</p:attrName>
                                        </p:attrNameLst>
                                      </p:cBhvr>
                                      <p:to>
                                        <p:strVal val="hidden"/>
                                      </p:to>
                                    </p:set>
                                  </p:childTnLst>
                                </p:cTn>
                              </p:par>
                              <p:par>
                                <p:cTn id="36" presetID="2" presetClass="exit" presetSubtype="4" fill="hold" grpId="1" nodeType="withEffect">
                                  <p:stCondLst>
                                    <p:cond delay="0"/>
                                  </p:stCondLst>
                                  <p:childTnLst>
                                    <p:anim calcmode="lin" valueType="num">
                                      <p:cBhvr additive="base">
                                        <p:cTn id="37" dur="500"/>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p:tgtEl>
                                          <p:spTgt spid="4">
                                            <p:txEl>
                                              <p:pRg st="1" end="1"/>
                                            </p:txEl>
                                          </p:spTgt>
                                        </p:tgtEl>
                                        <p:attrNameLst>
                                          <p:attrName>ppt_y</p:attrName>
                                        </p:attrNameLst>
                                      </p:cBhvr>
                                      <p:tavLst>
                                        <p:tav tm="0">
                                          <p:val>
                                            <p:strVal val="ppt_y"/>
                                          </p:val>
                                        </p:tav>
                                        <p:tav tm="100000">
                                          <p:val>
                                            <p:strVal val="1+ppt_h/2"/>
                                          </p:val>
                                        </p:tav>
                                      </p:tavLst>
                                    </p:anim>
                                    <p:set>
                                      <p:cBhvr>
                                        <p:cTn id="39" dur="1" fill="hold">
                                          <p:stCondLst>
                                            <p:cond delay="499"/>
                                          </p:stCondLst>
                                        </p:cTn>
                                        <p:tgtEl>
                                          <p:spTgt spid="4">
                                            <p:txEl>
                                              <p:pRg st="1" end="1"/>
                                            </p:txEl>
                                          </p:spTgt>
                                        </p:tgtEl>
                                        <p:attrNameLst>
                                          <p:attrName>style.visibility</p:attrName>
                                        </p:attrNameLst>
                                      </p:cBhvr>
                                      <p:to>
                                        <p:strVal val="hidden"/>
                                      </p:to>
                                    </p:set>
                                  </p:childTnLst>
                                </p:cTn>
                              </p:par>
                              <p:par>
                                <p:cTn id="40" presetID="2" presetClass="exit" presetSubtype="4" fill="hold" grpId="1" nodeType="withEffect">
                                  <p:stCondLst>
                                    <p:cond delay="0"/>
                                  </p:stCondLst>
                                  <p:childTnLst>
                                    <p:anim calcmode="lin" valueType="num">
                                      <p:cBhvr additive="base">
                                        <p:cTn id="41" dur="500"/>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p:tgtEl>
                                          <p:spTgt spid="4">
                                            <p:txEl>
                                              <p:pRg st="2" end="2"/>
                                            </p:txEl>
                                          </p:spTgt>
                                        </p:tgtEl>
                                        <p:attrNameLst>
                                          <p:attrName>ppt_y</p:attrName>
                                        </p:attrNameLst>
                                      </p:cBhvr>
                                      <p:tavLst>
                                        <p:tav tm="0">
                                          <p:val>
                                            <p:strVal val="ppt_y"/>
                                          </p:val>
                                        </p:tav>
                                        <p:tav tm="100000">
                                          <p:val>
                                            <p:strVal val="1+ppt_h/2"/>
                                          </p:val>
                                        </p:tav>
                                      </p:tavLst>
                                    </p:anim>
                                    <p:set>
                                      <p:cBhvr>
                                        <p:cTn id="43" dur="1" fill="hold">
                                          <p:stCondLst>
                                            <p:cond delay="499"/>
                                          </p:stCondLst>
                                        </p:cTn>
                                        <p:tgtEl>
                                          <p:spTgt spid="4">
                                            <p:txEl>
                                              <p:pRg st="2" end="2"/>
                                            </p:txEl>
                                          </p:spTgt>
                                        </p:tgtEl>
                                        <p:attrNameLst>
                                          <p:attrName>style.visibility</p:attrName>
                                        </p:attrNameLst>
                                      </p:cBhvr>
                                      <p:to>
                                        <p:strVal val="hidden"/>
                                      </p:to>
                                    </p:set>
                                  </p:childTnLst>
                                </p:cTn>
                              </p:par>
                              <p:par>
                                <p:cTn id="44" presetID="2" presetClass="exit" presetSubtype="4" fill="hold" grpId="1" nodeType="withEffect">
                                  <p:stCondLst>
                                    <p:cond delay="0"/>
                                  </p:stCondLst>
                                  <p:childTnLst>
                                    <p:anim calcmode="lin" valueType="num">
                                      <p:cBhvr additive="base">
                                        <p:cTn id="45" dur="500"/>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p:tgtEl>
                                          <p:spTgt spid="4">
                                            <p:txEl>
                                              <p:pRg st="3" end="3"/>
                                            </p:txEl>
                                          </p:spTgt>
                                        </p:tgtEl>
                                        <p:attrNameLst>
                                          <p:attrName>ppt_y</p:attrName>
                                        </p:attrNameLst>
                                      </p:cBhvr>
                                      <p:tavLst>
                                        <p:tav tm="0">
                                          <p:val>
                                            <p:strVal val="ppt_y"/>
                                          </p:val>
                                        </p:tav>
                                        <p:tav tm="100000">
                                          <p:val>
                                            <p:strVal val="1+ppt_h/2"/>
                                          </p:val>
                                        </p:tav>
                                      </p:tavLst>
                                    </p:anim>
                                    <p:set>
                                      <p:cBhvr>
                                        <p:cTn id="47" dur="1" fill="hold">
                                          <p:stCondLst>
                                            <p:cond delay="499"/>
                                          </p:stCondLst>
                                        </p:cTn>
                                        <p:tgtEl>
                                          <p:spTgt spid="4">
                                            <p:txEl>
                                              <p:pRg st="3" end="3"/>
                                            </p:txEl>
                                          </p:spTgt>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64" presetClass="path" presetSubtype="0" accel="50000" decel="50000" fill="hold" grpId="1" nodeType="clickEffect">
                                  <p:stCondLst>
                                    <p:cond delay="0"/>
                                  </p:stCondLst>
                                  <p:childTnLst>
                                    <p:animMotion origin="layout" path="M 4.79167E-6 4.07407E-6 L -0.00404 -0.59028 " pathEditMode="relative" rAng="0" ptsTypes="AA">
                                      <p:cBhvr>
                                        <p:cTn id="51" dur="2000" fill="hold"/>
                                        <p:tgtEl>
                                          <p:spTgt spid="6"/>
                                        </p:tgtEl>
                                        <p:attrNameLst>
                                          <p:attrName>ppt_x</p:attrName>
                                          <p:attrName>ppt_y</p:attrName>
                                        </p:attrNameLst>
                                      </p:cBhvr>
                                      <p:rCtr x="-208" y="-29514"/>
                                    </p:animMotion>
                                  </p:childTnLst>
                                </p:cTn>
                              </p:par>
                            </p:childTnLst>
                          </p:cTn>
                        </p:par>
                        <p:par>
                          <p:cTn id="52" fill="hold">
                            <p:stCondLst>
                              <p:cond delay="2000"/>
                            </p:stCondLst>
                            <p:childTnLst>
                              <p:par>
                                <p:cTn id="53" presetID="14" presetClass="entr" presetSubtype="10" fill="hold" grpId="0" nodeType="after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randombar(horizontal)">
                                      <p:cBhvr>
                                        <p:cTn id="55" dur="500"/>
                                        <p:tgtEl>
                                          <p:spTgt spid="8"/>
                                        </p:tgtEl>
                                      </p:cBhvr>
                                    </p:animEffect>
                                  </p:childTnLst>
                                </p:cTn>
                              </p:par>
                            </p:childTnLst>
                          </p:cTn>
                        </p:par>
                        <p:par>
                          <p:cTn id="56" fill="hold">
                            <p:stCondLst>
                              <p:cond delay="2500"/>
                            </p:stCondLst>
                            <p:childTnLst>
                              <p:par>
                                <p:cTn id="57" presetID="14" presetClass="entr" presetSubtype="10" fill="hold" nodeType="afterEffect">
                                  <p:stCondLst>
                                    <p:cond delay="0"/>
                                  </p:stCondLst>
                                  <p:childTnLst>
                                    <p:set>
                                      <p:cBhvr>
                                        <p:cTn id="58"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59" dur="500"/>
                                        <p:tgtEl>
                                          <p:spTgt spid="10">
                                            <p:txEl>
                                              <p:pRg st="0" end="0"/>
                                            </p:txEl>
                                          </p:spTgt>
                                        </p:tgtEl>
                                      </p:cBhvr>
                                    </p:animEffect>
                                  </p:childTnLst>
                                </p:cTn>
                              </p:par>
                            </p:childTnLst>
                          </p:cTn>
                        </p:par>
                        <p:par>
                          <p:cTn id="60" fill="hold">
                            <p:stCondLst>
                              <p:cond delay="3000"/>
                            </p:stCondLst>
                            <p:childTnLst>
                              <p:par>
                                <p:cTn id="61" presetID="14" presetClass="entr" presetSubtype="10" fill="hold" grpId="0" nodeType="after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randombar(horizontal)">
                                      <p:cBhvr>
                                        <p:cTn id="6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4" grpId="1" build="allAtOnce"/>
      <p:bldP spid="6" grpId="0"/>
      <p:bldP spid="6" grpId="1"/>
      <p:bldP spid="8"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EDD650-6F92-7A84-E1E1-FBFFDDC8DF94}"/>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05EB83B0-2E92-7490-5418-11C5B5F9E5C9}"/>
              </a:ext>
            </a:extLst>
          </p:cNvPr>
          <p:cNvSpPr txBox="1"/>
          <p:nvPr/>
        </p:nvSpPr>
        <p:spPr>
          <a:xfrm>
            <a:off x="2175510" y="394692"/>
            <a:ext cx="6158484" cy="5909310"/>
          </a:xfrm>
          <a:prstGeom prst="rect">
            <a:avLst/>
          </a:prstGeom>
          <a:noFill/>
        </p:spPr>
        <p:txBody>
          <a:bodyPr wrap="square">
            <a:spAutoFit/>
          </a:bodyPr>
          <a:lstStyle/>
          <a:p>
            <a:r>
              <a:rPr lang="en-US" sz="2400" u="sng" dirty="0">
                <a:solidFill>
                  <a:schemeClr val="accent6">
                    <a:lumMod val="20000"/>
                    <a:lumOff val="80000"/>
                  </a:schemeClr>
                </a:solidFill>
                <a:latin typeface="Agency FB" panose="020B0503020202020204" pitchFamily="34" charset="0"/>
              </a:rPr>
              <a:t>Importance of ICT in Modern Society</a:t>
            </a:r>
          </a:p>
          <a:p>
            <a:endParaRPr lang="en-US" sz="2400" dirty="0">
              <a:solidFill>
                <a:schemeClr val="accent2">
                  <a:lumMod val="20000"/>
                  <a:lumOff val="80000"/>
                </a:schemeClr>
              </a:solidFill>
              <a:latin typeface="Agency FB" panose="020B0503020202020204" pitchFamily="34" charset="0"/>
            </a:endParaRPr>
          </a:p>
          <a:p>
            <a:pPr marL="342900" indent="-342900">
              <a:buFont typeface="Courier New" panose="02070309020205020404" pitchFamily="49" charset="0"/>
              <a:buChar char="o"/>
            </a:pPr>
            <a:r>
              <a:rPr lang="en-US" sz="2400" b="1" i="1" dirty="0">
                <a:solidFill>
                  <a:schemeClr val="accent2">
                    <a:lumMod val="60000"/>
                    <a:lumOff val="40000"/>
                  </a:schemeClr>
                </a:solidFill>
                <a:latin typeface="Agency FB" panose="020B0503020202020204" pitchFamily="34" charset="0"/>
              </a:rPr>
              <a:t>economic growth and business transformation:</a:t>
            </a:r>
          </a:p>
          <a:p>
            <a:r>
              <a:rPr lang="en-US" sz="2000" dirty="0">
                <a:solidFill>
                  <a:schemeClr val="accent2">
                    <a:lumMod val="20000"/>
                    <a:lumOff val="80000"/>
                  </a:schemeClr>
                </a:solidFill>
                <a:latin typeface="Agency FB" panose="020B0503020202020204" pitchFamily="34" charset="0"/>
              </a:rPr>
              <a:t>Digital Economy</a:t>
            </a:r>
          </a:p>
          <a:p>
            <a:r>
              <a:rPr lang="en-US" sz="2000" dirty="0">
                <a:solidFill>
                  <a:schemeClr val="accent2">
                    <a:lumMod val="20000"/>
                    <a:lumOff val="80000"/>
                  </a:schemeClr>
                </a:solidFill>
                <a:latin typeface="Agency FB" panose="020B0503020202020204" pitchFamily="34" charset="0"/>
              </a:rPr>
              <a:t>Remote &amp; Hybrid Work</a:t>
            </a:r>
          </a:p>
          <a:p>
            <a:r>
              <a:rPr lang="en-US" sz="2000" dirty="0">
                <a:solidFill>
                  <a:schemeClr val="accent2">
                    <a:lumMod val="20000"/>
                    <a:lumOff val="80000"/>
                  </a:schemeClr>
                </a:solidFill>
                <a:latin typeface="Agency FB" panose="020B0503020202020204" pitchFamily="34" charset="0"/>
              </a:rPr>
              <a:t>Data-Driven Decisions </a:t>
            </a:r>
          </a:p>
          <a:p>
            <a:pPr marL="342900" indent="-342900">
              <a:buFont typeface="Courier New" panose="02070309020205020404" pitchFamily="49" charset="0"/>
              <a:buChar char="o"/>
            </a:pPr>
            <a:r>
              <a:rPr lang="en-US" sz="2400" b="1" i="1" dirty="0">
                <a:solidFill>
                  <a:schemeClr val="accent2">
                    <a:lumMod val="60000"/>
                    <a:lumOff val="40000"/>
                  </a:schemeClr>
                </a:solidFill>
                <a:latin typeface="Agency FB" panose="020B0503020202020204" pitchFamily="34" charset="0"/>
              </a:rPr>
              <a:t>social and personal life:</a:t>
            </a:r>
          </a:p>
          <a:p>
            <a:r>
              <a:rPr lang="en-US" sz="2000" dirty="0">
                <a:solidFill>
                  <a:schemeClr val="accent2">
                    <a:lumMod val="20000"/>
                    <a:lumOff val="80000"/>
                  </a:schemeClr>
                </a:solidFill>
                <a:latin typeface="Agency FB" panose="020B0503020202020204" pitchFamily="34" charset="0"/>
              </a:rPr>
              <a:t>Instant Global Communication</a:t>
            </a:r>
          </a:p>
          <a:p>
            <a:r>
              <a:rPr lang="en-US" sz="2000" dirty="0">
                <a:solidFill>
                  <a:schemeClr val="accent2">
                    <a:lumMod val="20000"/>
                    <a:lumOff val="80000"/>
                  </a:schemeClr>
                </a:solidFill>
                <a:latin typeface="Agency FB" panose="020B0503020202020204" pitchFamily="34" charset="0"/>
              </a:rPr>
              <a:t>Information Access</a:t>
            </a:r>
          </a:p>
          <a:p>
            <a:pPr marL="342900" indent="-342900">
              <a:buFont typeface="Courier New" panose="02070309020205020404" pitchFamily="49" charset="0"/>
              <a:buChar char="o"/>
            </a:pPr>
            <a:r>
              <a:rPr lang="en-US" sz="2400" b="1" i="1" dirty="0">
                <a:solidFill>
                  <a:schemeClr val="accent2">
                    <a:lumMod val="60000"/>
                    <a:lumOff val="40000"/>
                  </a:schemeClr>
                </a:solidFill>
                <a:latin typeface="Agency FB" panose="020B0503020202020204" pitchFamily="34" charset="0"/>
              </a:rPr>
              <a:t>Governance:</a:t>
            </a:r>
          </a:p>
          <a:p>
            <a:r>
              <a:rPr lang="en-US" sz="2000" dirty="0">
                <a:solidFill>
                  <a:schemeClr val="accent2">
                    <a:lumMod val="20000"/>
                    <a:lumOff val="80000"/>
                  </a:schemeClr>
                </a:solidFill>
                <a:latin typeface="Agency FB" panose="020B0503020202020204" pitchFamily="34" charset="0"/>
              </a:rPr>
              <a:t>Efficiency in Public Services</a:t>
            </a:r>
          </a:p>
          <a:p>
            <a:pPr marL="342900" indent="-342900">
              <a:buFont typeface="Courier New" panose="02070309020205020404" pitchFamily="49" charset="0"/>
              <a:buChar char="o"/>
            </a:pPr>
            <a:r>
              <a:rPr lang="en-US" sz="2400" b="1" i="1" dirty="0">
                <a:solidFill>
                  <a:schemeClr val="accent2">
                    <a:lumMod val="40000"/>
                    <a:lumOff val="60000"/>
                  </a:schemeClr>
                </a:solidFill>
                <a:latin typeface="Agency FB" panose="020B0503020202020204" pitchFamily="34" charset="0"/>
              </a:rPr>
              <a:t> </a:t>
            </a:r>
            <a:r>
              <a:rPr lang="en-US" sz="2400" b="1" i="1" dirty="0">
                <a:solidFill>
                  <a:schemeClr val="accent2">
                    <a:lumMod val="60000"/>
                    <a:lumOff val="40000"/>
                  </a:schemeClr>
                </a:solidFill>
                <a:latin typeface="Agency FB" panose="020B0503020202020204" pitchFamily="34" charset="0"/>
              </a:rPr>
              <a:t>Healthcare:</a:t>
            </a:r>
          </a:p>
          <a:p>
            <a:r>
              <a:rPr lang="en-US" sz="2000" dirty="0">
                <a:solidFill>
                  <a:schemeClr val="accent2">
                    <a:lumMod val="20000"/>
                    <a:lumOff val="80000"/>
                  </a:schemeClr>
                </a:solidFill>
                <a:latin typeface="Agency FB" panose="020B0503020202020204" pitchFamily="34" charset="0"/>
              </a:rPr>
              <a:t>Remote Diagnosis</a:t>
            </a:r>
          </a:p>
          <a:p>
            <a:r>
              <a:rPr lang="en-US" sz="2000" dirty="0">
                <a:solidFill>
                  <a:schemeClr val="accent2">
                    <a:lumMod val="20000"/>
                    <a:lumOff val="80000"/>
                  </a:schemeClr>
                </a:solidFill>
                <a:latin typeface="Agency FB" panose="020B0503020202020204" pitchFamily="34" charset="0"/>
              </a:rPr>
              <a:t>Health Monitoring</a:t>
            </a:r>
          </a:p>
          <a:p>
            <a:r>
              <a:rPr lang="en-US" sz="2000" dirty="0">
                <a:solidFill>
                  <a:schemeClr val="accent2">
                    <a:lumMod val="20000"/>
                    <a:lumOff val="80000"/>
                  </a:schemeClr>
                </a:solidFill>
                <a:latin typeface="Agency FB" panose="020B0503020202020204" pitchFamily="34" charset="0"/>
              </a:rPr>
              <a:t>Electronic Health Records (EHR)</a:t>
            </a:r>
          </a:p>
          <a:p>
            <a:br>
              <a:rPr lang="en-US" dirty="0">
                <a:solidFill>
                  <a:schemeClr val="accent2">
                    <a:lumMod val="75000"/>
                  </a:schemeClr>
                </a:solidFill>
              </a:rPr>
            </a:br>
            <a:br>
              <a:rPr lang="en-US" dirty="0">
                <a:solidFill>
                  <a:schemeClr val="accent2">
                    <a:lumMod val="20000"/>
                    <a:lumOff val="80000"/>
                  </a:schemeClr>
                </a:solidFill>
              </a:rPr>
            </a:br>
            <a:endParaRPr lang="en-US" dirty="0">
              <a:solidFill>
                <a:schemeClr val="accent2">
                  <a:lumMod val="75000"/>
                </a:schemeClr>
              </a:solidFill>
            </a:endParaRPr>
          </a:p>
        </p:txBody>
      </p:sp>
    </p:spTree>
    <p:extLst>
      <p:ext uri="{BB962C8B-B14F-4D97-AF65-F5344CB8AC3E}">
        <p14:creationId xmlns:p14="http://schemas.microsoft.com/office/powerpoint/2010/main" val="381950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50"/>
                                        <p:tgtEl>
                                          <p:spTgt spid="4">
                                            <p:txEl>
                                              <p:pRg st="0" end="0"/>
                                            </p:txEl>
                                          </p:spTgt>
                                        </p:tgtEl>
                                      </p:cBhvr>
                                    </p:animEffect>
                                    <p:anim calcmode="lin" valueType="num">
                                      <p:cBhvr>
                                        <p:cTn id="8" dur="25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25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42" presetClass="entr" presetSubtype="0" fill="hold" grpId="0" nodeType="after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50"/>
                                        <p:tgtEl>
                                          <p:spTgt spid="4">
                                            <p:txEl>
                                              <p:pRg st="2" end="2"/>
                                            </p:txEl>
                                          </p:spTgt>
                                        </p:tgtEl>
                                      </p:cBhvr>
                                    </p:animEffect>
                                    <p:anim calcmode="lin" valueType="num">
                                      <p:cBhvr>
                                        <p:cTn id="14" dur="25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5" dur="25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500"/>
                            </p:stCondLst>
                            <p:childTnLst>
                              <p:par>
                                <p:cTn id="17" presetID="42" presetClass="entr" presetSubtype="0" fill="hold" grpId="0"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250"/>
                                        <p:tgtEl>
                                          <p:spTgt spid="4">
                                            <p:txEl>
                                              <p:pRg st="3" end="3"/>
                                            </p:txEl>
                                          </p:spTgt>
                                        </p:tgtEl>
                                      </p:cBhvr>
                                    </p:animEffect>
                                    <p:anim calcmode="lin" valueType="num">
                                      <p:cBhvr>
                                        <p:cTn id="20" dur="25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1" dur="25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par>
                          <p:cTn id="22" fill="hold">
                            <p:stCondLst>
                              <p:cond delay="750"/>
                            </p:stCondLst>
                            <p:childTnLst>
                              <p:par>
                                <p:cTn id="23" presetID="42" presetClass="entr" presetSubtype="0" fill="hold" grpId="0" nodeType="after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250"/>
                                        <p:tgtEl>
                                          <p:spTgt spid="4">
                                            <p:txEl>
                                              <p:pRg st="4" end="4"/>
                                            </p:txEl>
                                          </p:spTgt>
                                        </p:tgtEl>
                                      </p:cBhvr>
                                    </p:animEffect>
                                    <p:anim calcmode="lin" valueType="num">
                                      <p:cBhvr>
                                        <p:cTn id="26" dur="25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7" dur="25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42" presetClass="entr" presetSubtype="0" fill="hold" grpId="0" nodeType="after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Effect transition="in" filter="fade">
                                      <p:cBhvr>
                                        <p:cTn id="31" dur="250"/>
                                        <p:tgtEl>
                                          <p:spTgt spid="4">
                                            <p:txEl>
                                              <p:pRg st="5" end="5"/>
                                            </p:txEl>
                                          </p:spTgt>
                                        </p:tgtEl>
                                      </p:cBhvr>
                                    </p:animEffect>
                                    <p:anim calcmode="lin" valueType="num">
                                      <p:cBhvr>
                                        <p:cTn id="32" dur="25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3" dur="25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par>
                          <p:cTn id="34" fill="hold">
                            <p:stCondLst>
                              <p:cond delay="1250"/>
                            </p:stCondLst>
                            <p:childTnLst>
                              <p:par>
                                <p:cTn id="35" presetID="42" presetClass="entr" presetSubtype="0" fill="hold" grpId="0" nodeType="after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250"/>
                                        <p:tgtEl>
                                          <p:spTgt spid="4">
                                            <p:txEl>
                                              <p:pRg st="6" end="6"/>
                                            </p:txEl>
                                          </p:spTgt>
                                        </p:tgtEl>
                                      </p:cBhvr>
                                    </p:animEffect>
                                    <p:anim calcmode="lin" valueType="num">
                                      <p:cBhvr>
                                        <p:cTn id="38" dur="25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9" dur="25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par>
                          <p:cTn id="40" fill="hold">
                            <p:stCondLst>
                              <p:cond delay="1500"/>
                            </p:stCondLst>
                            <p:childTnLst>
                              <p:par>
                                <p:cTn id="41" presetID="42" presetClass="entr" presetSubtype="0" fill="hold" grpId="0" nodeType="after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animEffect transition="in" filter="fade">
                                      <p:cBhvr>
                                        <p:cTn id="43" dur="250"/>
                                        <p:tgtEl>
                                          <p:spTgt spid="4">
                                            <p:txEl>
                                              <p:pRg st="7" end="7"/>
                                            </p:txEl>
                                          </p:spTgt>
                                        </p:tgtEl>
                                      </p:cBhvr>
                                    </p:animEffect>
                                    <p:anim calcmode="lin" valueType="num">
                                      <p:cBhvr>
                                        <p:cTn id="44" dur="25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5" dur="25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par>
                          <p:cTn id="46" fill="hold">
                            <p:stCondLst>
                              <p:cond delay="1750"/>
                            </p:stCondLst>
                            <p:childTnLst>
                              <p:par>
                                <p:cTn id="47" presetID="42" presetClass="entr" presetSubtype="0" fill="hold" grpId="0" nodeType="after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Effect transition="in" filter="fade">
                                      <p:cBhvr>
                                        <p:cTn id="49" dur="250"/>
                                        <p:tgtEl>
                                          <p:spTgt spid="4">
                                            <p:txEl>
                                              <p:pRg st="8" end="8"/>
                                            </p:txEl>
                                          </p:spTgt>
                                        </p:tgtEl>
                                      </p:cBhvr>
                                    </p:animEffect>
                                    <p:anim calcmode="lin" valueType="num">
                                      <p:cBhvr>
                                        <p:cTn id="50" dur="25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1" dur="25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par>
                          <p:cTn id="52" fill="hold">
                            <p:stCondLst>
                              <p:cond delay="2000"/>
                            </p:stCondLst>
                            <p:childTnLst>
                              <p:par>
                                <p:cTn id="53" presetID="42" presetClass="entr" presetSubtype="0" fill="hold" grpId="0" nodeType="after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animEffect transition="in" filter="fade">
                                      <p:cBhvr>
                                        <p:cTn id="55" dur="250"/>
                                        <p:tgtEl>
                                          <p:spTgt spid="4">
                                            <p:txEl>
                                              <p:pRg st="9" end="9"/>
                                            </p:txEl>
                                          </p:spTgt>
                                        </p:tgtEl>
                                      </p:cBhvr>
                                    </p:animEffect>
                                    <p:anim calcmode="lin" valueType="num">
                                      <p:cBhvr>
                                        <p:cTn id="56" dur="25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7" dur="25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par>
                          <p:cTn id="58" fill="hold">
                            <p:stCondLst>
                              <p:cond delay="2250"/>
                            </p:stCondLst>
                            <p:childTnLst>
                              <p:par>
                                <p:cTn id="59" presetID="42" presetClass="entr" presetSubtype="0" fill="hold" grpId="0" nodeType="after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Effect transition="in" filter="fade">
                                      <p:cBhvr>
                                        <p:cTn id="61" dur="250"/>
                                        <p:tgtEl>
                                          <p:spTgt spid="4">
                                            <p:txEl>
                                              <p:pRg st="10" end="10"/>
                                            </p:txEl>
                                          </p:spTgt>
                                        </p:tgtEl>
                                      </p:cBhvr>
                                    </p:animEffect>
                                    <p:anim calcmode="lin" valueType="num">
                                      <p:cBhvr>
                                        <p:cTn id="62" dur="25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3" dur="25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par>
                          <p:cTn id="64" fill="hold">
                            <p:stCondLst>
                              <p:cond delay="2500"/>
                            </p:stCondLst>
                            <p:childTnLst>
                              <p:par>
                                <p:cTn id="65" presetID="42" presetClass="entr" presetSubtype="0" fill="hold" grpId="0" nodeType="afterEffect">
                                  <p:stCondLst>
                                    <p:cond delay="0"/>
                                  </p:stCondLst>
                                  <p:childTnLst>
                                    <p:set>
                                      <p:cBhvr>
                                        <p:cTn id="66" dur="1" fill="hold">
                                          <p:stCondLst>
                                            <p:cond delay="0"/>
                                          </p:stCondLst>
                                        </p:cTn>
                                        <p:tgtEl>
                                          <p:spTgt spid="4">
                                            <p:txEl>
                                              <p:pRg st="11" end="11"/>
                                            </p:txEl>
                                          </p:spTgt>
                                        </p:tgtEl>
                                        <p:attrNameLst>
                                          <p:attrName>style.visibility</p:attrName>
                                        </p:attrNameLst>
                                      </p:cBhvr>
                                      <p:to>
                                        <p:strVal val="visible"/>
                                      </p:to>
                                    </p:set>
                                    <p:animEffect transition="in" filter="fade">
                                      <p:cBhvr>
                                        <p:cTn id="67" dur="250"/>
                                        <p:tgtEl>
                                          <p:spTgt spid="4">
                                            <p:txEl>
                                              <p:pRg st="11" end="11"/>
                                            </p:txEl>
                                          </p:spTgt>
                                        </p:tgtEl>
                                      </p:cBhvr>
                                    </p:animEffect>
                                    <p:anim calcmode="lin" valueType="num">
                                      <p:cBhvr>
                                        <p:cTn id="68" dur="25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9" dur="25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par>
                          <p:cTn id="70" fill="hold">
                            <p:stCondLst>
                              <p:cond delay="2750"/>
                            </p:stCondLst>
                            <p:childTnLst>
                              <p:par>
                                <p:cTn id="71" presetID="42" presetClass="entr" presetSubtype="0" fill="hold" grpId="0" nodeType="after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animEffect transition="in" filter="fade">
                                      <p:cBhvr>
                                        <p:cTn id="73" dur="250"/>
                                        <p:tgtEl>
                                          <p:spTgt spid="4">
                                            <p:txEl>
                                              <p:pRg st="12" end="12"/>
                                            </p:txEl>
                                          </p:spTgt>
                                        </p:tgtEl>
                                      </p:cBhvr>
                                    </p:animEffect>
                                    <p:anim calcmode="lin" valueType="num">
                                      <p:cBhvr>
                                        <p:cTn id="74" dur="25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5" dur="25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par>
                          <p:cTn id="76" fill="hold">
                            <p:stCondLst>
                              <p:cond delay="3000"/>
                            </p:stCondLst>
                            <p:childTnLst>
                              <p:par>
                                <p:cTn id="77" presetID="42" presetClass="entr" presetSubtype="0" fill="hold" grpId="0" nodeType="afterEffect">
                                  <p:stCondLst>
                                    <p:cond delay="0"/>
                                  </p:stCondLst>
                                  <p:childTnLst>
                                    <p:set>
                                      <p:cBhvr>
                                        <p:cTn id="78" dur="1" fill="hold">
                                          <p:stCondLst>
                                            <p:cond delay="0"/>
                                          </p:stCondLst>
                                        </p:cTn>
                                        <p:tgtEl>
                                          <p:spTgt spid="4">
                                            <p:txEl>
                                              <p:pRg st="13" end="13"/>
                                            </p:txEl>
                                          </p:spTgt>
                                        </p:tgtEl>
                                        <p:attrNameLst>
                                          <p:attrName>style.visibility</p:attrName>
                                        </p:attrNameLst>
                                      </p:cBhvr>
                                      <p:to>
                                        <p:strVal val="visible"/>
                                      </p:to>
                                    </p:set>
                                    <p:animEffect transition="in" filter="fade">
                                      <p:cBhvr>
                                        <p:cTn id="79" dur="250"/>
                                        <p:tgtEl>
                                          <p:spTgt spid="4">
                                            <p:txEl>
                                              <p:pRg st="13" end="13"/>
                                            </p:txEl>
                                          </p:spTgt>
                                        </p:tgtEl>
                                      </p:cBhvr>
                                    </p:animEffect>
                                    <p:anim calcmode="lin" valueType="num">
                                      <p:cBhvr>
                                        <p:cTn id="80" dur="25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81" dur="25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par>
                          <p:cTn id="82" fill="hold">
                            <p:stCondLst>
                              <p:cond delay="3250"/>
                            </p:stCondLst>
                            <p:childTnLst>
                              <p:par>
                                <p:cTn id="83" presetID="42" presetClass="entr" presetSubtype="0" fill="hold" grpId="0" nodeType="afterEffect">
                                  <p:stCondLst>
                                    <p:cond delay="0"/>
                                  </p:stCondLst>
                                  <p:childTnLst>
                                    <p:set>
                                      <p:cBhvr>
                                        <p:cTn id="84" dur="1" fill="hold">
                                          <p:stCondLst>
                                            <p:cond delay="0"/>
                                          </p:stCondLst>
                                        </p:cTn>
                                        <p:tgtEl>
                                          <p:spTgt spid="4">
                                            <p:txEl>
                                              <p:pRg st="14" end="14"/>
                                            </p:txEl>
                                          </p:spTgt>
                                        </p:tgtEl>
                                        <p:attrNameLst>
                                          <p:attrName>style.visibility</p:attrName>
                                        </p:attrNameLst>
                                      </p:cBhvr>
                                      <p:to>
                                        <p:strVal val="visible"/>
                                      </p:to>
                                    </p:set>
                                    <p:animEffect transition="in" filter="fade">
                                      <p:cBhvr>
                                        <p:cTn id="85" dur="250"/>
                                        <p:tgtEl>
                                          <p:spTgt spid="4">
                                            <p:txEl>
                                              <p:pRg st="14" end="14"/>
                                            </p:txEl>
                                          </p:spTgt>
                                        </p:tgtEl>
                                      </p:cBhvr>
                                    </p:animEffect>
                                    <p:anim calcmode="lin" valueType="num">
                                      <p:cBhvr>
                                        <p:cTn id="86" dur="25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87" dur="250" fill="hold"/>
                                        <p:tgtEl>
                                          <p:spTgt spid="4">
                                            <p:txEl>
                                              <p:pRg st="14" end="14"/>
                                            </p:txEl>
                                          </p:spTgt>
                                        </p:tgtEl>
                                        <p:attrNameLst>
                                          <p:attrName>ppt_y</p:attrName>
                                        </p:attrNameLst>
                                      </p:cBhvr>
                                      <p:tavLst>
                                        <p:tav tm="0">
                                          <p:val>
                                            <p:strVal val="#ppt_y+.1"/>
                                          </p:val>
                                        </p:tav>
                                        <p:tav tm="100000">
                                          <p:val>
                                            <p:strVal val="#ppt_y"/>
                                          </p:val>
                                        </p:tav>
                                      </p:tavLst>
                                    </p:anim>
                                  </p:childTnLst>
                                </p:cTn>
                              </p:par>
                            </p:childTnLst>
                          </p:cTn>
                        </p:par>
                        <p:par>
                          <p:cTn id="88" fill="hold">
                            <p:stCondLst>
                              <p:cond delay="3500"/>
                            </p:stCondLst>
                            <p:childTnLst>
                              <p:par>
                                <p:cTn id="89" presetID="42" presetClass="entr" presetSubtype="0" fill="hold" grpId="0" nodeType="afterEffect">
                                  <p:stCondLst>
                                    <p:cond delay="0"/>
                                  </p:stCondLst>
                                  <p:childTnLst>
                                    <p:set>
                                      <p:cBhvr>
                                        <p:cTn id="90" dur="1" fill="hold">
                                          <p:stCondLst>
                                            <p:cond delay="0"/>
                                          </p:stCondLst>
                                        </p:cTn>
                                        <p:tgtEl>
                                          <p:spTgt spid="4">
                                            <p:txEl>
                                              <p:pRg st="15" end="15"/>
                                            </p:txEl>
                                          </p:spTgt>
                                        </p:tgtEl>
                                        <p:attrNameLst>
                                          <p:attrName>style.visibility</p:attrName>
                                        </p:attrNameLst>
                                      </p:cBhvr>
                                      <p:to>
                                        <p:strVal val="visible"/>
                                      </p:to>
                                    </p:set>
                                    <p:animEffect transition="in" filter="fade">
                                      <p:cBhvr>
                                        <p:cTn id="91" dur="250"/>
                                        <p:tgtEl>
                                          <p:spTgt spid="4">
                                            <p:txEl>
                                              <p:pRg st="15" end="15"/>
                                            </p:txEl>
                                          </p:spTgt>
                                        </p:tgtEl>
                                      </p:cBhvr>
                                    </p:animEffect>
                                    <p:anim calcmode="lin" valueType="num">
                                      <p:cBhvr>
                                        <p:cTn id="92" dur="25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93" dur="250" fill="hold"/>
                                        <p:tgtEl>
                                          <p:spTgt spid="4">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1581AE-8477-0542-8FDC-80CBF69A74F5}"/>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E57F921-812D-0E37-8F31-795B81A2AA37}"/>
              </a:ext>
            </a:extLst>
          </p:cNvPr>
          <p:cNvSpPr txBox="1"/>
          <p:nvPr/>
        </p:nvSpPr>
        <p:spPr>
          <a:xfrm>
            <a:off x="1433322" y="732774"/>
            <a:ext cx="6158484" cy="476284"/>
          </a:xfrm>
          <a:prstGeom prst="rect">
            <a:avLst/>
          </a:prstGeom>
          <a:noFill/>
        </p:spPr>
        <p:txBody>
          <a:bodyPr wrap="square">
            <a:spAutoFit/>
          </a:bodyPr>
          <a:lstStyle/>
          <a:p>
            <a:pPr marL="514350" marR="0" lvl="0" indent="-514350" rtl="0">
              <a:lnSpc>
                <a:spcPct val="115000"/>
              </a:lnSpc>
              <a:spcAft>
                <a:spcPts val="1000"/>
              </a:spcAft>
              <a:buFont typeface="+mj-lt"/>
              <a:buAutoNum type="romanUcPeriod" startAt="3"/>
            </a:pPr>
            <a:r>
              <a:rPr lang="en-US" sz="2400" b="1"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Categories of ICT Technologies:</a:t>
            </a:r>
            <a:endParaRPr lang="en-US" sz="2400"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0A839556-C5DD-1D1F-CA0F-95218375F953}"/>
              </a:ext>
            </a:extLst>
          </p:cNvPr>
          <p:cNvGraphicFramePr>
            <a:graphicFrameLocks noGrp="1"/>
          </p:cNvGraphicFramePr>
          <p:nvPr>
            <p:extLst>
              <p:ext uri="{D42A27DB-BD31-4B8C-83A1-F6EECF244321}">
                <p14:modId xmlns:p14="http://schemas.microsoft.com/office/powerpoint/2010/main" val="2722274062"/>
              </p:ext>
            </p:extLst>
          </p:nvPr>
        </p:nvGraphicFramePr>
        <p:xfrm>
          <a:off x="1707828" y="1691928"/>
          <a:ext cx="6974257" cy="3096887"/>
        </p:xfrm>
        <a:graphic>
          <a:graphicData uri="http://schemas.openxmlformats.org/drawingml/2006/table">
            <a:tbl>
              <a:tblPr firstRow="1" firstCol="1" bandRow="1">
                <a:tableStyleId>{21E4AEA4-8DFA-4A89-87EB-49C32662AFE0}</a:tableStyleId>
              </a:tblPr>
              <a:tblGrid>
                <a:gridCol w="2324273">
                  <a:extLst>
                    <a:ext uri="{9D8B030D-6E8A-4147-A177-3AD203B41FA5}">
                      <a16:colId xmlns:a16="http://schemas.microsoft.com/office/drawing/2014/main" val="4150828465"/>
                    </a:ext>
                  </a:extLst>
                </a:gridCol>
                <a:gridCol w="2324992">
                  <a:extLst>
                    <a:ext uri="{9D8B030D-6E8A-4147-A177-3AD203B41FA5}">
                      <a16:colId xmlns:a16="http://schemas.microsoft.com/office/drawing/2014/main" val="1558654569"/>
                    </a:ext>
                  </a:extLst>
                </a:gridCol>
                <a:gridCol w="2324992">
                  <a:extLst>
                    <a:ext uri="{9D8B030D-6E8A-4147-A177-3AD203B41FA5}">
                      <a16:colId xmlns:a16="http://schemas.microsoft.com/office/drawing/2014/main" val="2915647857"/>
                    </a:ext>
                  </a:extLst>
                </a:gridCol>
              </a:tblGrid>
              <a:tr h="546211">
                <a:tc>
                  <a:txBody>
                    <a:bodyPr/>
                    <a:lstStyle/>
                    <a:p>
                      <a:pPr marL="0" marR="0" algn="ctr">
                        <a:lnSpc>
                          <a:spcPct val="107000"/>
                        </a:lnSpc>
                        <a:spcAft>
                          <a:spcPts val="800"/>
                        </a:spcAft>
                        <a:buNone/>
                        <a:tabLst>
                          <a:tab pos="1172845" algn="l"/>
                        </a:tabLst>
                      </a:pPr>
                      <a:r>
                        <a:rPr lang="en-US" sz="1800" dirty="0">
                          <a:effectLst/>
                          <a:latin typeface="Agency FB" panose="020B0503020202020204" pitchFamily="34" charset="0"/>
                        </a:rPr>
                        <a:t>Technology</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7000"/>
                        </a:lnSpc>
                        <a:spcAft>
                          <a:spcPts val="800"/>
                        </a:spcAft>
                        <a:buNone/>
                        <a:tabLst>
                          <a:tab pos="1172845" algn="l"/>
                        </a:tabLst>
                      </a:pPr>
                      <a:r>
                        <a:rPr lang="en-US" sz="1800" dirty="0">
                          <a:effectLst/>
                          <a:latin typeface="Agency FB" panose="020B0503020202020204" pitchFamily="34" charset="0"/>
                        </a:rPr>
                        <a:t>Best Use Case</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7000"/>
                        </a:lnSpc>
                        <a:spcAft>
                          <a:spcPts val="800"/>
                        </a:spcAft>
                        <a:buNone/>
                        <a:tabLst>
                          <a:tab pos="1172845" algn="l"/>
                        </a:tabLst>
                      </a:pPr>
                      <a:r>
                        <a:rPr lang="en-US" sz="1800" dirty="0">
                          <a:effectLst/>
                          <a:latin typeface="Agency FB" panose="020B0503020202020204" pitchFamily="34" charset="0"/>
                        </a:rPr>
                        <a:t>Impact</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640487342"/>
                  </a:ext>
                </a:extLst>
              </a:tr>
              <a:tr h="637669">
                <a:tc>
                  <a:txBody>
                    <a:bodyPr/>
                    <a:lstStyle/>
                    <a:p>
                      <a:pPr marL="0" marR="0" algn="ctr">
                        <a:lnSpc>
                          <a:spcPct val="107000"/>
                        </a:lnSpc>
                        <a:spcAft>
                          <a:spcPts val="800"/>
                        </a:spcAft>
                        <a:buNone/>
                        <a:tabLst>
                          <a:tab pos="1172845" algn="l"/>
                        </a:tabLst>
                      </a:pPr>
                      <a:r>
                        <a:rPr lang="en-US" sz="1800" dirty="0">
                          <a:effectLst/>
                          <a:latin typeface="Agency FB" panose="020B0503020202020204" pitchFamily="34" charset="0"/>
                        </a:rPr>
                        <a:t>5G / 6G</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lnSpc>
                          <a:spcPct val="107000"/>
                        </a:lnSpc>
                        <a:spcAft>
                          <a:spcPts val="800"/>
                        </a:spcAft>
                        <a:buNone/>
                        <a:tabLst>
                          <a:tab pos="1172845" algn="l"/>
                        </a:tabLst>
                      </a:pPr>
                      <a:r>
                        <a:rPr lang="en-US" sz="1800" dirty="0">
                          <a:effectLst/>
                          <a:latin typeface="Agency FB" panose="020B0503020202020204" pitchFamily="34" charset="0"/>
                        </a:rPr>
                        <a:t>Smart Cities &amp; VR</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tabLst>
                          <a:tab pos="1172845" algn="l"/>
                        </a:tabLst>
                      </a:pPr>
                      <a:r>
                        <a:rPr lang="en-US" sz="1800" dirty="0">
                          <a:effectLst/>
                          <a:latin typeface="Agency FB" panose="020B0503020202020204" pitchFamily="34" charset="0"/>
                        </a:rPr>
                        <a:t>Real-time Lag-free connectivity.</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71054798"/>
                  </a:ext>
                </a:extLst>
              </a:tr>
              <a:tr h="637669">
                <a:tc>
                  <a:txBody>
                    <a:bodyPr/>
                    <a:lstStyle/>
                    <a:p>
                      <a:pPr marL="0" marR="0" algn="ctr">
                        <a:lnSpc>
                          <a:spcPct val="107000"/>
                        </a:lnSpc>
                        <a:spcAft>
                          <a:spcPts val="800"/>
                        </a:spcAft>
                        <a:buNone/>
                        <a:tabLst>
                          <a:tab pos="1172845" algn="l"/>
                        </a:tabLst>
                      </a:pPr>
                      <a:r>
                        <a:rPr lang="en-US" sz="1800" dirty="0">
                          <a:effectLst/>
                          <a:latin typeface="Agency FB" panose="020B0503020202020204" pitchFamily="34" charset="0"/>
                        </a:rPr>
                        <a:t>Satellites</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lnSpc>
                          <a:spcPct val="107000"/>
                        </a:lnSpc>
                        <a:spcAft>
                          <a:spcPts val="800"/>
                        </a:spcAft>
                        <a:buNone/>
                        <a:tabLst>
                          <a:tab pos="1172845" algn="l"/>
                        </a:tabLst>
                      </a:pPr>
                      <a:r>
                        <a:rPr lang="en-US" sz="1800">
                          <a:effectLst/>
                          <a:latin typeface="Agency FB" panose="020B0503020202020204" pitchFamily="34" charset="0"/>
                        </a:rPr>
                        <a:t>Rural &amp; Remote Areas</a:t>
                      </a:r>
                      <a:endParaRPr lang="en-US" sz="180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tabLst>
                          <a:tab pos="1172845" algn="l"/>
                        </a:tabLst>
                      </a:pPr>
                      <a:r>
                        <a:rPr lang="en-US" sz="1800" dirty="0">
                          <a:effectLst/>
                          <a:latin typeface="Agency FB" panose="020B0503020202020204" pitchFamily="34" charset="0"/>
                        </a:rPr>
                        <a:t>Global internet coverage.</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196028496"/>
                  </a:ext>
                </a:extLst>
              </a:tr>
              <a:tr h="637669">
                <a:tc>
                  <a:txBody>
                    <a:bodyPr/>
                    <a:lstStyle/>
                    <a:p>
                      <a:pPr marL="0" marR="0" algn="ctr">
                        <a:lnSpc>
                          <a:spcPct val="107000"/>
                        </a:lnSpc>
                        <a:spcAft>
                          <a:spcPts val="800"/>
                        </a:spcAft>
                        <a:buNone/>
                        <a:tabLst>
                          <a:tab pos="1172845" algn="l"/>
                        </a:tabLst>
                      </a:pPr>
                      <a:r>
                        <a:rPr lang="en-US" sz="1800" dirty="0">
                          <a:effectLst/>
                          <a:latin typeface="Agency FB" panose="020B0503020202020204" pitchFamily="34" charset="0"/>
                        </a:rPr>
                        <a:t>Fiber Optics</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lnSpc>
                          <a:spcPct val="107000"/>
                        </a:lnSpc>
                        <a:spcAft>
                          <a:spcPts val="800"/>
                        </a:spcAft>
                        <a:buNone/>
                        <a:tabLst>
                          <a:tab pos="1172845" algn="l"/>
                        </a:tabLst>
                      </a:pPr>
                      <a:r>
                        <a:rPr lang="en-US" sz="1800" dirty="0">
                          <a:effectLst/>
                          <a:latin typeface="Agency FB" panose="020B0503020202020204" pitchFamily="34" charset="0"/>
                        </a:rPr>
                        <a:t>National Infrastructure</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tabLst>
                          <a:tab pos="1172845" algn="l"/>
                        </a:tabLst>
                      </a:pPr>
                      <a:r>
                        <a:rPr lang="en-US" sz="1800" dirty="0">
                          <a:effectLst/>
                          <a:latin typeface="Agency FB" panose="020B0503020202020204" pitchFamily="34" charset="0"/>
                        </a:rPr>
                        <a:t>High-capacity, stable data flow.</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02381237"/>
                  </a:ext>
                </a:extLst>
              </a:tr>
              <a:tr h="637669">
                <a:tc>
                  <a:txBody>
                    <a:bodyPr/>
                    <a:lstStyle/>
                    <a:p>
                      <a:pPr marL="0" marR="0" algn="ctr">
                        <a:lnSpc>
                          <a:spcPct val="107000"/>
                        </a:lnSpc>
                        <a:spcAft>
                          <a:spcPts val="800"/>
                        </a:spcAft>
                        <a:buNone/>
                        <a:tabLst>
                          <a:tab pos="1172845" algn="l"/>
                        </a:tabLst>
                      </a:pPr>
                      <a:r>
                        <a:rPr lang="en-US" sz="1800" dirty="0">
                          <a:effectLst/>
                          <a:latin typeface="Agency FB" panose="020B0503020202020204" pitchFamily="34" charset="0"/>
                        </a:rPr>
                        <a:t>IoT</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lnSpc>
                          <a:spcPct val="107000"/>
                        </a:lnSpc>
                        <a:spcAft>
                          <a:spcPts val="800"/>
                        </a:spcAft>
                        <a:buNone/>
                        <a:tabLst>
                          <a:tab pos="1172845" algn="l"/>
                        </a:tabLst>
                      </a:pPr>
                      <a:r>
                        <a:rPr lang="en-US" sz="1800" dirty="0">
                          <a:effectLst/>
                          <a:latin typeface="Agency FB" panose="020B0503020202020204" pitchFamily="34" charset="0"/>
                        </a:rPr>
                        <a:t>Smart Homes &amp; Factories</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Aft>
                          <a:spcPts val="800"/>
                        </a:spcAft>
                        <a:buNone/>
                        <a:tabLst>
                          <a:tab pos="1172845" algn="l"/>
                        </a:tabLst>
                      </a:pPr>
                      <a:r>
                        <a:rPr lang="en-US" sz="1800" dirty="0">
                          <a:effectLst/>
                          <a:latin typeface="Agency FB" panose="020B0503020202020204" pitchFamily="34" charset="0"/>
                        </a:rPr>
                        <a:t>Automation and data monitoring.</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20011823"/>
                  </a:ext>
                </a:extLst>
              </a:tr>
            </a:tbl>
          </a:graphicData>
        </a:graphic>
      </p:graphicFrame>
      <p:sp>
        <p:nvSpPr>
          <p:cNvPr id="6" name="Rectangle 1">
            <a:extLst>
              <a:ext uri="{FF2B5EF4-FFF2-40B4-BE49-F238E27FC236}">
                <a16:creationId xmlns:a16="http://schemas.microsoft.com/office/drawing/2014/main" id="{6985E80C-1FD9-82F5-C6C7-ABDE9898118C}"/>
              </a:ext>
            </a:extLst>
          </p:cNvPr>
          <p:cNvSpPr>
            <a:spLocks noChangeArrowheads="1"/>
          </p:cNvSpPr>
          <p:nvPr/>
        </p:nvSpPr>
        <p:spPr bwMode="auto">
          <a:xfrm>
            <a:off x="3017838" y="34115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TextBox 7">
            <a:extLst>
              <a:ext uri="{FF2B5EF4-FFF2-40B4-BE49-F238E27FC236}">
                <a16:creationId xmlns:a16="http://schemas.microsoft.com/office/drawing/2014/main" id="{4C5C41C3-D0C7-1BBB-5FBF-820480C1813A}"/>
              </a:ext>
            </a:extLst>
          </p:cNvPr>
          <p:cNvSpPr txBox="1"/>
          <p:nvPr/>
        </p:nvSpPr>
        <p:spPr>
          <a:xfrm>
            <a:off x="1707828" y="1265827"/>
            <a:ext cx="7635710" cy="369332"/>
          </a:xfrm>
          <a:prstGeom prst="rect">
            <a:avLst/>
          </a:prstGeom>
          <a:noFill/>
        </p:spPr>
        <p:txBody>
          <a:bodyPr wrap="square">
            <a:spAutoFit/>
          </a:bodyPr>
          <a:lstStyle/>
          <a:p>
            <a:r>
              <a:rPr lang="en-US" sz="1800" dirty="0">
                <a:solidFill>
                  <a:schemeClr val="accent2">
                    <a:lumMod val="40000"/>
                    <a:lumOff val="60000"/>
                  </a:schemeClr>
                </a:solidFill>
                <a:effectLst/>
                <a:latin typeface="Agency FB" panose="020B0503020202020204" pitchFamily="34" charset="0"/>
                <a:ea typeface="Calibri" panose="020F0502020204030204" pitchFamily="34" charset="0"/>
              </a:rPr>
              <a:t>Communication Technologies:</a:t>
            </a:r>
            <a:endParaRPr lang="en-US" dirty="0">
              <a:solidFill>
                <a:schemeClr val="accent2">
                  <a:lumMod val="40000"/>
                  <a:lumOff val="60000"/>
                </a:schemeClr>
              </a:solidFill>
              <a:latin typeface="Agency FB" panose="020B0503020202020204" pitchFamily="34" charset="0"/>
            </a:endParaRPr>
          </a:p>
        </p:txBody>
      </p:sp>
    </p:spTree>
    <p:extLst>
      <p:ext uri="{BB962C8B-B14F-4D97-AF65-F5344CB8AC3E}">
        <p14:creationId xmlns:p14="http://schemas.microsoft.com/office/powerpoint/2010/main" val="26171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377F80-39B5-39B4-8D33-D2365AB01EA8}"/>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CC155453-400B-6730-BCFE-03DBBD7B745D}"/>
              </a:ext>
            </a:extLst>
          </p:cNvPr>
          <p:cNvSpPr txBox="1"/>
          <p:nvPr/>
        </p:nvSpPr>
        <p:spPr>
          <a:xfrm>
            <a:off x="1138286" y="1040717"/>
            <a:ext cx="6160416" cy="2388283"/>
          </a:xfrm>
          <a:prstGeom prst="rect">
            <a:avLst/>
          </a:prstGeom>
          <a:noFill/>
        </p:spPr>
        <p:txBody>
          <a:bodyPr wrap="square">
            <a:spAutoFit/>
          </a:bodyPr>
          <a:lstStyle/>
          <a:p>
            <a:pPr marL="914400" marR="0" lvl="1" indent="-457200" rtl="0">
              <a:lnSpc>
                <a:spcPct val="115000"/>
              </a:lnSpc>
              <a:spcAft>
                <a:spcPts val="1000"/>
              </a:spcAft>
              <a:buFont typeface="+mj-lt"/>
              <a:buAutoNum type="arabicPeriod" startAt="2"/>
            </a:pPr>
            <a:r>
              <a:rPr lang="en-US" sz="2000" b="1" kern="100" dirty="0">
                <a:solidFill>
                  <a:schemeClr val="accent2">
                    <a:lumMod val="40000"/>
                    <a:lumOff val="60000"/>
                  </a:schemeClr>
                </a:solidFill>
                <a:effectLst/>
                <a:latin typeface="Agency FB" panose="020B0503020202020204" pitchFamily="34" charset="0"/>
                <a:ea typeface="Calibri" panose="020F0502020204030204" pitchFamily="34" charset="0"/>
                <a:cs typeface="Arial" panose="020B0604020202020204" pitchFamily="34" charset="0"/>
              </a:rPr>
              <a:t>Why Communication Technologies are Vital</a:t>
            </a:r>
            <a:endParaRPr lang="en-US" sz="2000" kern="100" dirty="0">
              <a:solidFill>
                <a:schemeClr val="accent2">
                  <a:lumMod val="40000"/>
                  <a:lumOff val="6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nSpc>
                <a:spcPct val="107000"/>
              </a:lnSpc>
              <a:spcAft>
                <a:spcPts val="800"/>
              </a:spcAft>
              <a:buNone/>
            </a:pPr>
            <a:r>
              <a:rPr lang="en-US" sz="2000" b="1" dirty="0">
                <a:solidFill>
                  <a:schemeClr val="accent2">
                    <a:lumMod val="40000"/>
                    <a:lumOff val="60000"/>
                  </a:schemeClr>
                </a:solidFill>
                <a:effectLst/>
                <a:latin typeface="Agency FB" panose="020B0503020202020204" pitchFamily="34" charset="0"/>
                <a:ea typeface="Calibri" panose="020F0502020204030204" pitchFamily="34" charset="0"/>
                <a:cs typeface="Arial" panose="020B0604020202020204" pitchFamily="34" charset="0"/>
              </a:rPr>
              <a:t> </a:t>
            </a:r>
            <a:endParaRPr lang="en-US" sz="2000" dirty="0">
              <a:solidFill>
                <a:schemeClr val="accent2">
                  <a:lumMod val="40000"/>
                  <a:lumOff val="60000"/>
                </a:schemeClr>
              </a:solidFill>
              <a:effectLst/>
              <a:latin typeface="Agency FB" panose="020B0503020202020204" pitchFamily="34" charset="0"/>
              <a:ea typeface="Calibri" panose="020F0502020204030204" pitchFamily="34" charset="0"/>
              <a:cs typeface="Arial" panose="020B0604020202020204" pitchFamily="34" charset="0"/>
            </a:endParaRPr>
          </a:p>
          <a:p>
            <a:pPr marL="342900" marR="0" lvl="0" indent="-342900">
              <a:lnSpc>
                <a:spcPct val="115000"/>
              </a:lnSpc>
              <a:buFont typeface="Wingdings" panose="05000000000000000000" pitchFamily="2" charset="2"/>
              <a:buChar char=""/>
            </a:pPr>
            <a:r>
              <a:rPr lang="en-US" sz="2000" kern="100" dirty="0">
                <a:solidFill>
                  <a:schemeClr val="accent1">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Global Collaboration</a:t>
            </a:r>
            <a:endParaRPr lang="en-US" sz="2000" kern="100" dirty="0">
              <a:solidFill>
                <a:schemeClr val="accent1">
                  <a:lumMod val="60000"/>
                  <a:lumOff val="40000"/>
                </a:schemeClr>
              </a:solidFill>
              <a:latin typeface="Agency FB" panose="020B0503020202020204" pitchFamily="34" charset="0"/>
              <a:ea typeface="Calibri" panose="020F0502020204030204" pitchFamily="34" charset="0"/>
              <a:cs typeface="Arial" panose="020B0604020202020204" pitchFamily="34" charset="0"/>
            </a:endParaRPr>
          </a:p>
          <a:p>
            <a:pPr marL="342900" marR="0" lvl="0" indent="-342900">
              <a:lnSpc>
                <a:spcPct val="115000"/>
              </a:lnSpc>
              <a:buFont typeface="Wingdings" panose="05000000000000000000" pitchFamily="2" charset="2"/>
              <a:buChar char=""/>
            </a:pPr>
            <a:r>
              <a:rPr lang="en-US" sz="2000" kern="100" dirty="0">
                <a:solidFill>
                  <a:schemeClr val="accent1">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Instant Access to Information</a:t>
            </a:r>
            <a:endParaRPr lang="en-US" sz="2000" kern="100" dirty="0">
              <a:solidFill>
                <a:schemeClr val="accent1">
                  <a:lumMod val="60000"/>
                  <a:lumOff val="40000"/>
                </a:schemeClr>
              </a:solidFill>
              <a:latin typeface="Agency FB" panose="020B0503020202020204" pitchFamily="34" charset="0"/>
              <a:ea typeface="Calibri" panose="020F0502020204030204" pitchFamily="34" charset="0"/>
              <a:cs typeface="Arial" panose="020B0604020202020204" pitchFamily="34" charset="0"/>
            </a:endParaRPr>
          </a:p>
          <a:p>
            <a:pPr marL="342900" marR="0" lvl="0" indent="-342900">
              <a:lnSpc>
                <a:spcPct val="115000"/>
              </a:lnSpc>
              <a:buFont typeface="Wingdings" panose="05000000000000000000" pitchFamily="2" charset="2"/>
              <a:buChar char=""/>
            </a:pPr>
            <a:r>
              <a:rPr lang="en-US" sz="2000" kern="100" dirty="0">
                <a:solidFill>
                  <a:schemeClr val="accent1">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Emergency and Disaster Response</a:t>
            </a:r>
          </a:p>
          <a:p>
            <a:pPr marL="342900" marR="0" lvl="0" indent="-342900">
              <a:lnSpc>
                <a:spcPct val="115000"/>
              </a:lnSpc>
              <a:buFont typeface="Wingdings" panose="05000000000000000000" pitchFamily="2" charset="2"/>
              <a:buChar char=""/>
            </a:pPr>
            <a:r>
              <a:rPr lang="en-US" sz="2000" kern="100" dirty="0">
                <a:solidFill>
                  <a:schemeClr val="accent1">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Economic Efficiency</a:t>
            </a:r>
          </a:p>
        </p:txBody>
      </p:sp>
      <p:pic>
        <p:nvPicPr>
          <p:cNvPr id="5" name="Picture 4">
            <a:extLst>
              <a:ext uri="{FF2B5EF4-FFF2-40B4-BE49-F238E27FC236}">
                <a16:creationId xmlns:a16="http://schemas.microsoft.com/office/drawing/2014/main" id="{25CD0451-26FF-49DB-9487-5A09A93B432A}"/>
              </a:ext>
            </a:extLst>
          </p:cNvPr>
          <p:cNvPicPr>
            <a:picLocks noChangeAspect="1"/>
          </p:cNvPicPr>
          <p:nvPr/>
        </p:nvPicPr>
        <p:blipFill>
          <a:blip r:embed="rId4">
            <a:alphaModFix amt="50000"/>
            <a:extLst>
              <a:ext uri="{28A0092B-C50C-407E-A947-70E740481C1C}">
                <a14:useLocalDpi xmlns:a14="http://schemas.microsoft.com/office/drawing/2010/main" val="0"/>
              </a:ext>
            </a:extLst>
          </a:blip>
          <a:stretch>
            <a:fillRect/>
          </a:stretch>
        </p:blipFill>
        <p:spPr>
          <a:xfrm>
            <a:off x="5483256" y="1903438"/>
            <a:ext cx="6500067" cy="4252266"/>
          </a:xfrm>
          <a:prstGeom prst="rect">
            <a:avLst/>
          </a:prstGeom>
        </p:spPr>
      </p:pic>
    </p:spTree>
    <p:extLst>
      <p:ext uri="{BB962C8B-B14F-4D97-AF65-F5344CB8AC3E}">
        <p14:creationId xmlns:p14="http://schemas.microsoft.com/office/powerpoint/2010/main" val="395194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B5FF14-0C60-60D7-BF09-57310EA1701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964F0A6F-F380-749D-7CC6-14C622CAC241}"/>
              </a:ext>
            </a:extLst>
          </p:cNvPr>
          <p:cNvPicPr>
            <a:picLocks noChangeAspect="1"/>
          </p:cNvPicPr>
          <p:nvPr/>
        </p:nvPicPr>
        <p:blipFill>
          <a:blip r:embed="rId4">
            <a:alphaModFix amt="15000"/>
            <a:extLst>
              <a:ext uri="{28A0092B-C50C-407E-A947-70E740481C1C}">
                <a14:useLocalDpi xmlns:a14="http://schemas.microsoft.com/office/drawing/2010/main" val="0"/>
              </a:ext>
            </a:extLst>
          </a:blip>
          <a:stretch>
            <a:fillRect/>
          </a:stretch>
        </p:blipFill>
        <p:spPr>
          <a:xfrm>
            <a:off x="-1" y="-1"/>
            <a:ext cx="12191999" cy="6858001"/>
          </a:xfrm>
          <a:prstGeom prst="rect">
            <a:avLst/>
          </a:prstGeom>
          <a:ln>
            <a:noFill/>
          </a:ln>
          <a:effectLst>
            <a:outerShdw blurRad="50800" dist="38100" dir="5400000" algn="t"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6" name="TextBox 5">
            <a:extLst>
              <a:ext uri="{FF2B5EF4-FFF2-40B4-BE49-F238E27FC236}">
                <a16:creationId xmlns:a16="http://schemas.microsoft.com/office/drawing/2014/main" id="{A0F4A1B9-1FDE-F5BE-781F-38497BFB3EF0}"/>
              </a:ext>
            </a:extLst>
          </p:cNvPr>
          <p:cNvSpPr txBox="1"/>
          <p:nvPr/>
        </p:nvSpPr>
        <p:spPr>
          <a:xfrm>
            <a:off x="1091152" y="643643"/>
            <a:ext cx="6160416" cy="476284"/>
          </a:xfrm>
          <a:prstGeom prst="rect">
            <a:avLst/>
          </a:prstGeom>
          <a:noFill/>
        </p:spPr>
        <p:txBody>
          <a:bodyPr wrap="square">
            <a:spAutoFit/>
          </a:bodyPr>
          <a:lstStyle/>
          <a:p>
            <a:pPr marL="400050" marR="0" lvl="0" indent="-400050" rtl="0">
              <a:lnSpc>
                <a:spcPct val="115000"/>
              </a:lnSpc>
              <a:spcAft>
                <a:spcPts val="1000"/>
              </a:spcAft>
              <a:buFont typeface="+mj-lt"/>
              <a:buAutoNum type="romanUcPeriod" startAt="4"/>
            </a:pPr>
            <a:r>
              <a:rPr lang="en-US" sz="2400" b="1"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Google Services in ICT</a:t>
            </a:r>
            <a:endParaRPr lang="en-US" sz="2400"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91288251-5E49-B13D-7A07-02AC2F0EB6AD}"/>
              </a:ext>
            </a:extLst>
          </p:cNvPr>
          <p:cNvGraphicFramePr>
            <a:graphicFrameLocks noGrp="1"/>
          </p:cNvGraphicFramePr>
          <p:nvPr>
            <p:extLst>
              <p:ext uri="{D42A27DB-BD31-4B8C-83A1-F6EECF244321}">
                <p14:modId xmlns:p14="http://schemas.microsoft.com/office/powerpoint/2010/main" val="3435745155"/>
              </p:ext>
            </p:extLst>
          </p:nvPr>
        </p:nvGraphicFramePr>
        <p:xfrm>
          <a:off x="1914440" y="1763570"/>
          <a:ext cx="6069330" cy="2637155"/>
        </p:xfrm>
        <a:graphic>
          <a:graphicData uri="http://schemas.openxmlformats.org/drawingml/2006/table">
            <a:tbl>
              <a:tblPr firstRow="1" firstCol="1" bandRow="1">
                <a:tableStyleId>{5C22544A-7EE6-4342-B048-85BDC9FD1C3A}</a:tableStyleId>
              </a:tblPr>
              <a:tblGrid>
                <a:gridCol w="1825625">
                  <a:extLst>
                    <a:ext uri="{9D8B030D-6E8A-4147-A177-3AD203B41FA5}">
                      <a16:colId xmlns:a16="http://schemas.microsoft.com/office/drawing/2014/main" val="1578540660"/>
                    </a:ext>
                  </a:extLst>
                </a:gridCol>
                <a:gridCol w="4243705">
                  <a:extLst>
                    <a:ext uri="{9D8B030D-6E8A-4147-A177-3AD203B41FA5}">
                      <a16:colId xmlns:a16="http://schemas.microsoft.com/office/drawing/2014/main" val="1323570202"/>
                    </a:ext>
                  </a:extLst>
                </a:gridCol>
              </a:tblGrid>
              <a:tr h="386715">
                <a:tc>
                  <a:txBody>
                    <a:bodyPr/>
                    <a:lstStyle/>
                    <a:p>
                      <a:pPr marL="0" marR="0" algn="ctr">
                        <a:lnSpc>
                          <a:spcPct val="107000"/>
                        </a:lnSpc>
                        <a:spcAft>
                          <a:spcPts val="800"/>
                        </a:spcAft>
                        <a:buNone/>
                      </a:pPr>
                      <a:r>
                        <a:rPr lang="en-US" sz="1800" dirty="0">
                          <a:effectLst/>
                          <a:latin typeface="Agency FB" panose="020B0503020202020204" pitchFamily="34" charset="0"/>
                        </a:rPr>
                        <a:t>Feature</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Aft>
                          <a:spcPts val="800"/>
                        </a:spcAft>
                        <a:buNone/>
                      </a:pPr>
                      <a:r>
                        <a:rPr lang="en-US" sz="1800" dirty="0">
                          <a:effectLst/>
                          <a:latin typeface="Agency FB" panose="020B0503020202020204" pitchFamily="34" charset="0"/>
                        </a:rPr>
                        <a:t>Importance in ICT</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48769115"/>
                  </a:ext>
                </a:extLst>
              </a:tr>
              <a:tr h="357505">
                <a:tc>
                  <a:txBody>
                    <a:bodyPr/>
                    <a:lstStyle/>
                    <a:p>
                      <a:pPr marL="0" marR="0" algn="ctr">
                        <a:lnSpc>
                          <a:spcPct val="107000"/>
                        </a:lnSpc>
                        <a:spcAft>
                          <a:spcPts val="800"/>
                        </a:spcAft>
                        <a:buNone/>
                      </a:pPr>
                      <a:r>
                        <a:rPr lang="en-US" sz="1800" dirty="0">
                          <a:effectLst/>
                          <a:latin typeface="Agency FB" panose="020B0503020202020204" pitchFamily="34" charset="0"/>
                        </a:rPr>
                        <a:t>Accessibility</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lnSpc>
                          <a:spcPct val="107000"/>
                        </a:lnSpc>
                        <a:spcAft>
                          <a:spcPts val="800"/>
                        </a:spcAft>
                        <a:buNone/>
                        <a:tabLst>
                          <a:tab pos="581660" algn="l"/>
                        </a:tabLst>
                      </a:pPr>
                      <a:r>
                        <a:rPr lang="en-US" sz="1800" dirty="0">
                          <a:solidFill>
                            <a:schemeClr val="accent6">
                              <a:lumMod val="50000"/>
                            </a:schemeClr>
                          </a:solidFill>
                          <a:effectLst/>
                          <a:latin typeface="Agency FB" panose="020B0503020202020204" pitchFamily="34" charset="0"/>
                        </a:rPr>
                        <a:t>Most services are free or low-cost, bridging the "Digital Divide."</a:t>
                      </a:r>
                      <a:endParaRPr lang="en-US" sz="1800" dirty="0">
                        <a:solidFill>
                          <a:schemeClr val="accent6">
                            <a:lumMod val="50000"/>
                          </a:schemeClr>
                        </a:solidFill>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865632"/>
                  </a:ext>
                </a:extLst>
              </a:tr>
              <a:tr h="386715">
                <a:tc>
                  <a:txBody>
                    <a:bodyPr/>
                    <a:lstStyle/>
                    <a:p>
                      <a:pPr marL="0" marR="0" algn="ctr">
                        <a:lnSpc>
                          <a:spcPct val="107000"/>
                        </a:lnSpc>
                        <a:spcAft>
                          <a:spcPts val="800"/>
                        </a:spcAft>
                        <a:buNone/>
                      </a:pPr>
                      <a:r>
                        <a:rPr lang="en-US" sz="1800" dirty="0">
                          <a:effectLst/>
                          <a:latin typeface="Agency FB" panose="020B0503020202020204" pitchFamily="34" charset="0"/>
                        </a:rPr>
                        <a:t>Interconnectivity</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lnSpc>
                          <a:spcPct val="107000"/>
                        </a:lnSpc>
                        <a:spcAft>
                          <a:spcPts val="800"/>
                        </a:spcAft>
                        <a:buNone/>
                      </a:pPr>
                      <a:r>
                        <a:rPr lang="en-US" sz="1800" dirty="0">
                          <a:solidFill>
                            <a:schemeClr val="accent6">
                              <a:lumMod val="50000"/>
                            </a:schemeClr>
                          </a:solidFill>
                          <a:effectLst/>
                          <a:latin typeface="Agency FB" panose="020B0503020202020204" pitchFamily="34" charset="0"/>
                        </a:rPr>
                        <a:t>All Google services are linked via one account, creating a seamless "Ecosystem."</a:t>
                      </a:r>
                      <a:endParaRPr lang="en-US" sz="1800" dirty="0">
                        <a:solidFill>
                          <a:schemeClr val="accent6">
                            <a:lumMod val="50000"/>
                          </a:schemeClr>
                        </a:solidFill>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12125567"/>
                  </a:ext>
                </a:extLst>
              </a:tr>
              <a:tr h="386715">
                <a:tc>
                  <a:txBody>
                    <a:bodyPr/>
                    <a:lstStyle/>
                    <a:p>
                      <a:pPr marL="0" marR="0" algn="ctr">
                        <a:lnSpc>
                          <a:spcPct val="107000"/>
                        </a:lnSpc>
                        <a:spcAft>
                          <a:spcPts val="800"/>
                        </a:spcAft>
                        <a:buNone/>
                      </a:pPr>
                      <a:r>
                        <a:rPr lang="en-US" sz="1800" dirty="0">
                          <a:effectLst/>
                          <a:latin typeface="Agency FB" panose="020B0503020202020204" pitchFamily="34" charset="0"/>
                        </a:rPr>
                        <a:t>Big Data</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lnSpc>
                          <a:spcPct val="107000"/>
                        </a:lnSpc>
                        <a:spcAft>
                          <a:spcPts val="800"/>
                        </a:spcAft>
                        <a:buNone/>
                      </a:pPr>
                      <a:r>
                        <a:rPr lang="en-US" sz="1800" dirty="0">
                          <a:solidFill>
                            <a:schemeClr val="accent6">
                              <a:lumMod val="50000"/>
                            </a:schemeClr>
                          </a:solidFill>
                          <a:effectLst/>
                          <a:latin typeface="Agency FB" panose="020B0503020202020204" pitchFamily="34" charset="0"/>
                        </a:rPr>
                        <a:t>Google’s ability to process massive amounts of data helps in research, marketing, and science.</a:t>
                      </a:r>
                      <a:endParaRPr lang="en-US" sz="1800" dirty="0">
                        <a:solidFill>
                          <a:schemeClr val="accent6">
                            <a:lumMod val="50000"/>
                          </a:schemeClr>
                        </a:solidFill>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42553582"/>
                  </a:ext>
                </a:extLst>
              </a:tr>
              <a:tr h="386715">
                <a:tc>
                  <a:txBody>
                    <a:bodyPr/>
                    <a:lstStyle/>
                    <a:p>
                      <a:pPr marL="0" marR="0" algn="ctr">
                        <a:lnSpc>
                          <a:spcPct val="107000"/>
                        </a:lnSpc>
                        <a:spcAft>
                          <a:spcPts val="800"/>
                        </a:spcAft>
                        <a:buNone/>
                      </a:pPr>
                      <a:r>
                        <a:rPr lang="en-US" sz="1800" dirty="0">
                          <a:effectLst/>
                          <a:latin typeface="Agency FB" panose="020B0503020202020204" pitchFamily="34" charset="0"/>
                        </a:rPr>
                        <a:t>Education</a:t>
                      </a:r>
                      <a:endParaRPr lang="en-US" sz="1800" dirty="0">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l">
                        <a:lnSpc>
                          <a:spcPct val="107000"/>
                        </a:lnSpc>
                        <a:spcAft>
                          <a:spcPts val="800"/>
                        </a:spcAft>
                        <a:buNone/>
                      </a:pPr>
                      <a:r>
                        <a:rPr lang="en-US" sz="1800" dirty="0">
                          <a:solidFill>
                            <a:schemeClr val="accent6">
                              <a:lumMod val="50000"/>
                            </a:schemeClr>
                          </a:solidFill>
                          <a:effectLst/>
                          <a:latin typeface="Agency FB" panose="020B0503020202020204" pitchFamily="34" charset="0"/>
                        </a:rPr>
                        <a:t>Google for Education (Classroom) has become the standard for digital learning worldwide.</a:t>
                      </a:r>
                      <a:endParaRPr lang="en-US" sz="1800" dirty="0">
                        <a:solidFill>
                          <a:schemeClr val="accent6">
                            <a:lumMod val="50000"/>
                          </a:schemeClr>
                        </a:solidFill>
                        <a:effectLst/>
                        <a:latin typeface="Agency FB" panose="020B0503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86484816"/>
                  </a:ext>
                </a:extLst>
              </a:tr>
            </a:tbl>
          </a:graphicData>
        </a:graphic>
      </p:graphicFrame>
      <p:sp>
        <p:nvSpPr>
          <p:cNvPr id="9" name="Rectangle 1">
            <a:extLst>
              <a:ext uri="{FF2B5EF4-FFF2-40B4-BE49-F238E27FC236}">
                <a16:creationId xmlns:a16="http://schemas.microsoft.com/office/drawing/2014/main" id="{1B7D6F2E-6E9A-55B6-C6D8-03B60756F5AC}"/>
              </a:ext>
            </a:extLst>
          </p:cNvPr>
          <p:cNvSpPr>
            <a:spLocks noChangeArrowheads="1"/>
          </p:cNvSpPr>
          <p:nvPr/>
        </p:nvSpPr>
        <p:spPr bwMode="auto">
          <a:xfrm>
            <a:off x="2991192" y="1326477"/>
            <a:ext cx="32687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81025" algn="l"/>
              </a:tabLst>
              <a:defRPr>
                <a:solidFill>
                  <a:schemeClr val="tx1"/>
                </a:solidFill>
                <a:latin typeface="Arial" panose="020B0604020202020204" pitchFamily="34" charset="0"/>
              </a:defRPr>
            </a:lvl1pPr>
            <a:lvl2pPr eaLnBrk="0" fontAlgn="base" hangingPunct="0">
              <a:spcBef>
                <a:spcPct val="0"/>
              </a:spcBef>
              <a:spcAft>
                <a:spcPct val="0"/>
              </a:spcAft>
              <a:tabLst>
                <a:tab pos="581025" algn="l"/>
              </a:tabLst>
              <a:defRPr>
                <a:solidFill>
                  <a:schemeClr val="tx1"/>
                </a:solidFill>
                <a:latin typeface="Arial" panose="020B0604020202020204" pitchFamily="34" charset="0"/>
              </a:defRPr>
            </a:lvl2pPr>
            <a:lvl3pPr eaLnBrk="0" fontAlgn="base" hangingPunct="0">
              <a:spcBef>
                <a:spcPct val="0"/>
              </a:spcBef>
              <a:spcAft>
                <a:spcPct val="0"/>
              </a:spcAft>
              <a:tabLst>
                <a:tab pos="581025" algn="l"/>
              </a:tabLst>
              <a:defRPr>
                <a:solidFill>
                  <a:schemeClr val="tx1"/>
                </a:solidFill>
                <a:latin typeface="Arial" panose="020B0604020202020204" pitchFamily="34" charset="0"/>
              </a:defRPr>
            </a:lvl3pPr>
            <a:lvl4pPr eaLnBrk="0" fontAlgn="base" hangingPunct="0">
              <a:spcBef>
                <a:spcPct val="0"/>
              </a:spcBef>
              <a:spcAft>
                <a:spcPct val="0"/>
              </a:spcAft>
              <a:tabLst>
                <a:tab pos="581025" algn="l"/>
              </a:tabLst>
              <a:defRPr>
                <a:solidFill>
                  <a:schemeClr val="tx1"/>
                </a:solidFill>
                <a:latin typeface="Arial" panose="020B0604020202020204" pitchFamily="34" charset="0"/>
              </a:defRPr>
            </a:lvl4pPr>
            <a:lvl5pPr eaLnBrk="0" fontAlgn="base" hangingPunct="0">
              <a:spcBef>
                <a:spcPct val="0"/>
              </a:spcBef>
              <a:spcAft>
                <a:spcPct val="0"/>
              </a:spcAft>
              <a:tabLst>
                <a:tab pos="581025" algn="l"/>
              </a:tabLst>
              <a:defRPr>
                <a:solidFill>
                  <a:schemeClr val="tx1"/>
                </a:solidFill>
                <a:latin typeface="Arial" panose="020B0604020202020204" pitchFamily="34" charset="0"/>
              </a:defRPr>
            </a:lvl5pPr>
            <a:lvl6pPr eaLnBrk="0" fontAlgn="base" hangingPunct="0">
              <a:spcBef>
                <a:spcPct val="0"/>
              </a:spcBef>
              <a:spcAft>
                <a:spcPct val="0"/>
              </a:spcAft>
              <a:tabLst>
                <a:tab pos="581025" algn="l"/>
              </a:tabLst>
              <a:defRPr>
                <a:solidFill>
                  <a:schemeClr val="tx1"/>
                </a:solidFill>
                <a:latin typeface="Arial" panose="020B0604020202020204" pitchFamily="34" charset="0"/>
              </a:defRPr>
            </a:lvl6pPr>
            <a:lvl7pPr eaLnBrk="0" fontAlgn="base" hangingPunct="0">
              <a:spcBef>
                <a:spcPct val="0"/>
              </a:spcBef>
              <a:spcAft>
                <a:spcPct val="0"/>
              </a:spcAft>
              <a:tabLst>
                <a:tab pos="581025" algn="l"/>
              </a:tabLst>
              <a:defRPr>
                <a:solidFill>
                  <a:schemeClr val="tx1"/>
                </a:solidFill>
                <a:latin typeface="Arial" panose="020B0604020202020204" pitchFamily="34" charset="0"/>
              </a:defRPr>
            </a:lvl7pPr>
            <a:lvl8pPr eaLnBrk="0" fontAlgn="base" hangingPunct="0">
              <a:spcBef>
                <a:spcPct val="0"/>
              </a:spcBef>
              <a:spcAft>
                <a:spcPct val="0"/>
              </a:spcAft>
              <a:tabLst>
                <a:tab pos="581025" algn="l"/>
              </a:tabLst>
              <a:defRPr>
                <a:solidFill>
                  <a:schemeClr val="tx1"/>
                </a:solidFill>
                <a:latin typeface="Arial" panose="020B0604020202020204" pitchFamily="34" charset="0"/>
              </a:defRPr>
            </a:lvl8pPr>
            <a:lvl9pPr eaLnBrk="0" fontAlgn="base" hangingPunct="0">
              <a:spcBef>
                <a:spcPct val="0"/>
              </a:spcBef>
              <a:spcAft>
                <a:spcPct val="0"/>
              </a:spcAft>
              <a:tabLst>
                <a:tab pos="581025"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581025" algn="l"/>
              </a:tabLst>
            </a:pPr>
            <a:r>
              <a:rPr kumimoji="0" lang="en-US" altLang="en-US" sz="1400" b="1" i="0" u="sng" strike="noStrike" cap="none" normalizeH="0" baseline="0" dirty="0">
                <a:ln>
                  <a:noFill/>
                </a:ln>
                <a:solidFill>
                  <a:schemeClr val="accent2">
                    <a:lumMod val="40000"/>
                    <a:lumOff val="60000"/>
                  </a:schemeClr>
                </a:solidFill>
                <a:effectLst/>
                <a:latin typeface="Times New Roman" panose="02020603050405020304" pitchFamily="18" charset="0"/>
                <a:ea typeface="Calibri" panose="020F0502020204030204" pitchFamily="34" charset="0"/>
                <a:cs typeface="Times New Roman" panose="02020603050405020304" pitchFamily="18" charset="0"/>
              </a:rPr>
              <a:t>Why Google Services are Essential to </a:t>
            </a:r>
            <a:r>
              <a:rPr kumimoji="0" lang="en-US" altLang="en-US" sz="1400" b="1" i="0" u="sng" strike="noStrike" cap="none" normalizeH="0" baseline="0" dirty="0">
                <a:ln>
                  <a:noFill/>
                </a:ln>
                <a:solidFill>
                  <a:schemeClr val="accent2">
                    <a:lumMod val="40000"/>
                    <a:lumOff val="60000"/>
                  </a:schemeClr>
                </a:solidFill>
                <a:effectLst/>
                <a:latin typeface="Agency FB" panose="020B0503020202020204" pitchFamily="34" charset="0"/>
                <a:ea typeface="Calibri" panose="020F0502020204030204" pitchFamily="34" charset="0"/>
                <a:cs typeface="Times New Roman" panose="02020603050405020304" pitchFamily="18" charset="0"/>
              </a:rPr>
              <a:t>ICT</a:t>
            </a:r>
            <a:endParaRPr kumimoji="0" lang="en-US" altLang="en-US" sz="1800" b="0" i="0" u="none" strike="noStrike" cap="none" normalizeH="0" baseline="0" dirty="0">
              <a:ln>
                <a:noFill/>
              </a:ln>
              <a:solidFill>
                <a:schemeClr val="accent2">
                  <a:lumMod val="40000"/>
                  <a:lumOff val="60000"/>
                </a:schemeClr>
              </a:solidFill>
              <a:effectLst/>
              <a:latin typeface="Agency FB" panose="020B0503020202020204" pitchFamily="34" charset="0"/>
            </a:endParaRPr>
          </a:p>
        </p:txBody>
      </p:sp>
      <p:sp>
        <p:nvSpPr>
          <p:cNvPr id="11" name="TextBox 10">
            <a:extLst>
              <a:ext uri="{FF2B5EF4-FFF2-40B4-BE49-F238E27FC236}">
                <a16:creationId xmlns:a16="http://schemas.microsoft.com/office/drawing/2014/main" id="{D2B6F147-6842-D557-76C2-2DF73A7D5AFA}"/>
              </a:ext>
            </a:extLst>
          </p:cNvPr>
          <p:cNvSpPr txBox="1"/>
          <p:nvPr/>
        </p:nvSpPr>
        <p:spPr>
          <a:xfrm>
            <a:off x="2001626" y="1480365"/>
            <a:ext cx="6169842" cy="3660426"/>
          </a:xfrm>
          <a:prstGeom prst="rect">
            <a:avLst/>
          </a:prstGeom>
          <a:noFill/>
        </p:spPr>
        <p:txBody>
          <a:bodyPr wrap="square">
            <a:spAutoFit/>
          </a:bodyPr>
          <a:lstStyle/>
          <a:p>
            <a:pPr marL="0" marR="0">
              <a:lnSpc>
                <a:spcPct val="107000"/>
              </a:lnSpc>
              <a:spcAft>
                <a:spcPts val="800"/>
              </a:spcAft>
              <a:buNone/>
            </a:pPr>
            <a:r>
              <a:rPr lang="en-US" sz="1800" b="1" dirty="0">
                <a:solidFill>
                  <a:schemeClr val="accent1">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Google Workspace</a:t>
            </a:r>
            <a:r>
              <a:rPr lang="en-US" sz="1800" dirty="0">
                <a:solidFill>
                  <a:schemeClr val="accent1">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 </a:t>
            </a:r>
            <a:r>
              <a:rPr lang="en-US" sz="18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is an integrated suite of cloud-based productivity and collaboration tools developed by Google. It serves as a centralized digital ecosystem designed to streamline workflows, enhance communication, and foster real-time collaboration within teams and organizations.</a:t>
            </a:r>
            <a:endParaRPr lang="en-US" sz="16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nSpc>
                <a:spcPct val="107000"/>
              </a:lnSpc>
              <a:spcAft>
                <a:spcPts val="800"/>
              </a:spcAft>
              <a:buNone/>
            </a:pPr>
            <a:r>
              <a:rPr lang="en-US" sz="18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The core elements of </a:t>
            </a:r>
            <a:r>
              <a:rPr lang="en-US" sz="1800" b="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Google Workspace</a:t>
            </a:r>
            <a:r>
              <a:rPr lang="en-US" sz="18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include:</a:t>
            </a:r>
            <a:endParaRPr lang="en-US" sz="16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342900" marR="0" lvl="0" indent="-342900">
              <a:lnSpc>
                <a:spcPct val="115000"/>
              </a:lnSpc>
              <a:buFont typeface="Symbol" panose="05050102010706020507" pitchFamily="18" charset="2"/>
              <a:buChar char=""/>
            </a:pPr>
            <a:r>
              <a:rPr lang="en-US" sz="1800" b="1" kern="100" dirty="0">
                <a:solidFill>
                  <a:schemeClr val="accent5">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Ubication Hub</a:t>
            </a:r>
            <a:r>
              <a:rPr lang="en-US" sz="1800" b="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a:t>
            </a:r>
            <a:r>
              <a:rPr lang="en-US" sz="18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a:t>
            </a:r>
            <a:r>
              <a:rPr lang="en-US" sz="1800" i="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Gmail </a:t>
            </a:r>
            <a:r>
              <a:rPr lang="en-US" sz="1800" b="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Google Meet</a:t>
            </a:r>
            <a:r>
              <a:rPr lang="en-US" sz="18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for and Google Chat</a:t>
            </a:r>
            <a:endParaRPr lang="en-US" sz="16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342900" marR="0" lvl="0" indent="-342900">
              <a:lnSpc>
                <a:spcPct val="115000"/>
              </a:lnSpc>
              <a:buFont typeface="Symbol" panose="05050102010706020507" pitchFamily="18" charset="2"/>
              <a:buChar char=""/>
            </a:pPr>
            <a:r>
              <a:rPr lang="en-US" sz="1800" b="1" kern="100" dirty="0">
                <a:solidFill>
                  <a:schemeClr val="accent5">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Collaborative Content Creation</a:t>
            </a:r>
            <a:r>
              <a:rPr lang="en-US" sz="1800" b="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a:t>
            </a:r>
            <a:r>
              <a:rPr lang="en-US" sz="18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a:t>
            </a:r>
            <a:r>
              <a:rPr lang="en-US" sz="1800" b="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Google Docs, Sheets, and Slides</a:t>
            </a:r>
            <a:endParaRPr lang="en-US" b="1" kern="100" dirty="0">
              <a:solidFill>
                <a:schemeClr val="accent2">
                  <a:lumMod val="20000"/>
                  <a:lumOff val="80000"/>
                </a:schemeClr>
              </a:solidFill>
              <a:latin typeface="Agency FB" panose="020B0503020202020204" pitchFamily="34" charset="0"/>
              <a:ea typeface="Calibri" panose="020F0502020204030204" pitchFamily="34" charset="0"/>
              <a:cs typeface="Arial" panose="020B0604020202020204" pitchFamily="34" charset="0"/>
            </a:endParaRPr>
          </a:p>
          <a:p>
            <a:pPr marL="342900" marR="0" lvl="0" indent="-342900">
              <a:lnSpc>
                <a:spcPct val="115000"/>
              </a:lnSpc>
              <a:buFont typeface="Symbol" panose="05050102010706020507" pitchFamily="18" charset="2"/>
              <a:buChar char=""/>
            </a:pPr>
            <a:r>
              <a:rPr lang="en-US" sz="1800" b="1" kern="100" dirty="0">
                <a:solidFill>
                  <a:schemeClr val="accent5">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Centralized Storage &amp; File Management</a:t>
            </a:r>
            <a:r>
              <a:rPr lang="en-US" sz="1800" b="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a:t>
            </a:r>
            <a:r>
              <a:rPr lang="en-US" sz="18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a:t>
            </a:r>
            <a:r>
              <a:rPr lang="en-US" sz="1800" i="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Google Drive</a:t>
            </a:r>
            <a:r>
              <a:rPr lang="en-US" sz="18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a:t>
            </a:r>
          </a:p>
          <a:p>
            <a:pPr marL="342900" marR="0" lvl="0" indent="-342900">
              <a:lnSpc>
                <a:spcPct val="115000"/>
              </a:lnSpc>
              <a:buFont typeface="Symbol" panose="05050102010706020507" pitchFamily="18" charset="2"/>
              <a:buChar char=""/>
            </a:pPr>
            <a:r>
              <a:rPr lang="en-US" sz="1800" b="1" kern="100" dirty="0">
                <a:solidFill>
                  <a:schemeClr val="accent5">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Scheduling &amp; Organization</a:t>
            </a:r>
            <a:r>
              <a:rPr lang="en-US" sz="1800" b="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a:t>
            </a:r>
            <a:r>
              <a:rPr lang="en-US" sz="18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a:t>
            </a:r>
            <a:r>
              <a:rPr lang="en-US" sz="1800" i="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Google Calendar</a:t>
            </a:r>
            <a:endParaRPr lang="en-US" sz="16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342900" marR="0" lvl="0" indent="-342900">
              <a:lnSpc>
                <a:spcPct val="115000"/>
              </a:lnSpc>
              <a:spcAft>
                <a:spcPts val="1000"/>
              </a:spcAft>
              <a:buFont typeface="Symbol" panose="05050102010706020507" pitchFamily="18" charset="2"/>
              <a:buChar char=""/>
            </a:pPr>
            <a:r>
              <a:rPr lang="en-US" sz="1800" b="1" kern="100" dirty="0">
                <a:solidFill>
                  <a:schemeClr val="accent5">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Security &amp; Administrative Control</a:t>
            </a:r>
            <a:r>
              <a:rPr lang="en-US" sz="1800" b="1"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a:t>
            </a:r>
            <a:r>
              <a:rPr lang="en-US" sz="18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multi-factor authentication and an Admin Console</a:t>
            </a:r>
            <a:endParaRPr lang="en-US" sz="1600" kern="1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6436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4" presetClass="entr" presetSubtype="5"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vertic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xit" presetSubtype="4" fill="hold" grpId="1" nodeType="clickEffect">
                                  <p:stCondLst>
                                    <p:cond delay="0"/>
                                  </p:stCondLst>
                                  <p:childTnLst>
                                    <p:anim calcmode="lin" valueType="num">
                                      <p:cBhvr additive="base">
                                        <p:cTn id="22" dur="500"/>
                                        <p:tgtEl>
                                          <p:spTgt spid="9"/>
                                        </p:tgtEl>
                                        <p:attrNameLst>
                                          <p:attrName>ppt_x</p:attrName>
                                        </p:attrNameLst>
                                      </p:cBhvr>
                                      <p:tavLst>
                                        <p:tav tm="0">
                                          <p:val>
                                            <p:strVal val="ppt_x"/>
                                          </p:val>
                                        </p:tav>
                                        <p:tav tm="100000">
                                          <p:val>
                                            <p:strVal val="ppt_x"/>
                                          </p:val>
                                        </p:tav>
                                      </p:tavLst>
                                    </p:anim>
                                    <p:anim calcmode="lin" valueType="num">
                                      <p:cBhvr additive="base">
                                        <p:cTn id="23" dur="500"/>
                                        <p:tgtEl>
                                          <p:spTgt spid="9"/>
                                        </p:tgtEl>
                                        <p:attrNameLst>
                                          <p:attrName>ppt_y</p:attrName>
                                        </p:attrNameLst>
                                      </p:cBhvr>
                                      <p:tavLst>
                                        <p:tav tm="0">
                                          <p:val>
                                            <p:strVal val="ppt_y"/>
                                          </p:val>
                                        </p:tav>
                                        <p:tav tm="100000">
                                          <p:val>
                                            <p:strVal val="1+ppt_h/2"/>
                                          </p:val>
                                        </p:tav>
                                      </p:tavLst>
                                    </p:anim>
                                    <p:set>
                                      <p:cBhvr>
                                        <p:cTn id="24" dur="1" fill="hold">
                                          <p:stCondLst>
                                            <p:cond delay="499"/>
                                          </p:stCondLst>
                                        </p:cTn>
                                        <p:tgtEl>
                                          <p:spTgt spid="9"/>
                                        </p:tgtEl>
                                        <p:attrNameLst>
                                          <p:attrName>style.visibility</p:attrName>
                                        </p:attrNameLst>
                                      </p:cBhvr>
                                      <p:to>
                                        <p:strVal val="hidden"/>
                                      </p:to>
                                    </p:set>
                                  </p:childTnLst>
                                </p:cTn>
                              </p:par>
                              <p:par>
                                <p:cTn id="25" presetID="2" presetClass="exit" presetSubtype="4" fill="hold" nodeType="withEffect">
                                  <p:stCondLst>
                                    <p:cond delay="0"/>
                                  </p:stCondLst>
                                  <p:childTnLst>
                                    <p:anim calcmode="lin" valueType="num">
                                      <p:cBhvr additive="base">
                                        <p:cTn id="26" dur="500"/>
                                        <p:tgtEl>
                                          <p:spTgt spid="8"/>
                                        </p:tgtEl>
                                        <p:attrNameLst>
                                          <p:attrName>ppt_x</p:attrName>
                                        </p:attrNameLst>
                                      </p:cBhvr>
                                      <p:tavLst>
                                        <p:tav tm="0">
                                          <p:val>
                                            <p:strVal val="ppt_x"/>
                                          </p:val>
                                        </p:tav>
                                        <p:tav tm="100000">
                                          <p:val>
                                            <p:strVal val="ppt_x"/>
                                          </p:val>
                                        </p:tav>
                                      </p:tavLst>
                                    </p:anim>
                                    <p:anim calcmode="lin" valueType="num">
                                      <p:cBhvr additive="base">
                                        <p:cTn id="27" dur="500"/>
                                        <p:tgtEl>
                                          <p:spTgt spid="8"/>
                                        </p:tgtEl>
                                        <p:attrNameLst>
                                          <p:attrName>ppt_y</p:attrName>
                                        </p:attrNameLst>
                                      </p:cBhvr>
                                      <p:tavLst>
                                        <p:tav tm="0">
                                          <p:val>
                                            <p:strVal val="ppt_y"/>
                                          </p:val>
                                        </p:tav>
                                        <p:tav tm="100000">
                                          <p:val>
                                            <p:strVal val="1+ppt_h/2"/>
                                          </p:val>
                                        </p:tav>
                                      </p:tavLst>
                                    </p:anim>
                                    <p:set>
                                      <p:cBhvr>
                                        <p:cTn id="28" dur="1" fill="hold">
                                          <p:stCondLst>
                                            <p:cond delay="499"/>
                                          </p:stCondLst>
                                        </p:cTn>
                                        <p:tgtEl>
                                          <p:spTgt spid="8"/>
                                        </p:tgtEl>
                                        <p:attrNameLst>
                                          <p:attrName>style.visibility</p:attrName>
                                        </p:attrNameLst>
                                      </p:cBhvr>
                                      <p:to>
                                        <p:strVal val="hidden"/>
                                      </p:to>
                                    </p:set>
                                  </p:childTnLst>
                                </p:cTn>
                              </p:par>
                            </p:childTnLst>
                          </p:cTn>
                        </p:par>
                        <p:par>
                          <p:cTn id="29" fill="hold">
                            <p:stCondLst>
                              <p:cond delay="500"/>
                            </p:stCondLst>
                            <p:childTnLst>
                              <p:par>
                                <p:cTn id="30" presetID="16" presetClass="entr" presetSubtype="21"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arn(inVertical)">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BBDADF5-BD04-1502-E158-250B086B180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1"/>
            <a:ext cx="12377342" cy="6962255"/>
          </a:xfrm>
          <a:prstGeom prst="rect">
            <a:avLst/>
          </a:prstGeom>
        </p:spPr>
      </p:pic>
      <p:pic>
        <p:nvPicPr>
          <p:cNvPr id="3" name="Picture 2">
            <a:extLst>
              <a:ext uri="{FF2B5EF4-FFF2-40B4-BE49-F238E27FC236}">
                <a16:creationId xmlns:a16="http://schemas.microsoft.com/office/drawing/2014/main" id="{44F5BEAF-FB1B-4172-5A14-F4BE386DFBEB}"/>
              </a:ext>
            </a:extLst>
          </p:cNvPr>
          <p:cNvPicPr>
            <a:picLocks noChangeAspect="1"/>
          </p:cNvPicPr>
          <p:nvPr/>
        </p:nvPicPr>
        <p:blipFill>
          <a:blip r:embed="rId4">
            <a:alphaModFix amt="62000"/>
            <a:extLst>
              <a:ext uri="{28A0092B-C50C-407E-A947-70E740481C1C}">
                <a14:useLocalDpi xmlns:a14="http://schemas.microsoft.com/office/drawing/2010/main" val="0"/>
              </a:ext>
            </a:extLst>
          </a:blip>
          <a:stretch>
            <a:fillRect/>
          </a:stretch>
        </p:blipFill>
        <p:spPr>
          <a:xfrm>
            <a:off x="1534068" y="352670"/>
            <a:ext cx="9629802" cy="6152659"/>
          </a:xfrm>
          <a:prstGeom prst="roundRect">
            <a:avLst>
              <a:gd name="adj" fmla="val 8594"/>
            </a:avLst>
          </a:prstGeom>
          <a:noFill/>
          <a:ln>
            <a:noFill/>
          </a:ln>
          <a:effectLst>
            <a:reflection blurRad="12700" stA="38000" endPos="28000" dist="5000" dir="5400000" sy="-100000" algn="bl" rotWithShape="0"/>
          </a:effectLst>
        </p:spPr>
      </p:pic>
      <p:sp>
        <p:nvSpPr>
          <p:cNvPr id="5" name="TextBox 4">
            <a:extLst>
              <a:ext uri="{FF2B5EF4-FFF2-40B4-BE49-F238E27FC236}">
                <a16:creationId xmlns:a16="http://schemas.microsoft.com/office/drawing/2014/main" id="{C62E053B-4157-50AC-C8BB-78C5DB4E4D03}"/>
              </a:ext>
            </a:extLst>
          </p:cNvPr>
          <p:cNvSpPr txBox="1"/>
          <p:nvPr/>
        </p:nvSpPr>
        <p:spPr>
          <a:xfrm>
            <a:off x="1534068" y="879859"/>
            <a:ext cx="6189258" cy="461665"/>
          </a:xfrm>
          <a:prstGeom prst="rect">
            <a:avLst/>
          </a:prstGeom>
          <a:noFill/>
        </p:spPr>
        <p:txBody>
          <a:bodyPr wrap="square">
            <a:spAutoFit/>
          </a:bodyPr>
          <a:lstStyle/>
          <a:p>
            <a:pPr marL="400050" indent="-400050">
              <a:buFont typeface="+mj-lt"/>
              <a:buAutoNum type="romanUcPeriod" startAt="5"/>
            </a:pPr>
            <a:r>
              <a:rPr lang="en-US" sz="2400" b="1" dirty="0">
                <a:solidFill>
                  <a:schemeClr val="accent6">
                    <a:lumMod val="60000"/>
                    <a:lumOff val="40000"/>
                  </a:schemeClr>
                </a:solidFill>
                <a:effectLst/>
                <a:latin typeface="Agency FB" panose="020B0503020202020204" pitchFamily="34" charset="0"/>
                <a:ea typeface="Calibri" panose="020F0502020204030204" pitchFamily="34" charset="0"/>
              </a:rPr>
              <a:t>Microsoft Tools in ICT</a:t>
            </a:r>
            <a:endParaRPr lang="en-US" sz="2400" dirty="0">
              <a:solidFill>
                <a:schemeClr val="accent6">
                  <a:lumMod val="60000"/>
                  <a:lumOff val="40000"/>
                </a:schemeClr>
              </a:solidFill>
              <a:latin typeface="Agency FB" panose="020B0503020202020204" pitchFamily="34" charset="0"/>
            </a:endParaRPr>
          </a:p>
        </p:txBody>
      </p:sp>
      <p:sp>
        <p:nvSpPr>
          <p:cNvPr id="7" name="TextBox 6">
            <a:extLst>
              <a:ext uri="{FF2B5EF4-FFF2-40B4-BE49-F238E27FC236}">
                <a16:creationId xmlns:a16="http://schemas.microsoft.com/office/drawing/2014/main" id="{345381B1-2216-0C03-2322-25E71EF05EB5}"/>
              </a:ext>
            </a:extLst>
          </p:cNvPr>
          <p:cNvSpPr txBox="1"/>
          <p:nvPr/>
        </p:nvSpPr>
        <p:spPr>
          <a:xfrm>
            <a:off x="1534068" y="3296844"/>
            <a:ext cx="6189258" cy="1253164"/>
          </a:xfrm>
          <a:prstGeom prst="rect">
            <a:avLst/>
          </a:prstGeom>
          <a:noFill/>
        </p:spPr>
        <p:txBody>
          <a:bodyPr wrap="square">
            <a:spAutoFit/>
          </a:bodyPr>
          <a:lstStyle/>
          <a:p>
            <a:pPr marL="0" marR="0">
              <a:lnSpc>
                <a:spcPct val="107000"/>
              </a:lnSpc>
              <a:spcAft>
                <a:spcPts val="800"/>
              </a:spcAft>
              <a:buNone/>
            </a:pPr>
            <a:r>
              <a:rPr lang="en-US" sz="1800" b="1" dirty="0">
                <a:solidFill>
                  <a:schemeClr val="accent2">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Microsoft Office</a:t>
            </a:r>
            <a:r>
              <a:rPr lang="en-US" sz="1800" dirty="0">
                <a:solidFill>
                  <a:schemeClr val="accent2">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 </a:t>
            </a:r>
            <a:r>
              <a:rPr lang="en-US" sz="18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is a comprehensive suite of desktop and cloud applications designed to facilitate professional document creation, data management, and visual communication. It remains the global benchmark for productivity in academic and corporate environments.</a:t>
            </a:r>
            <a:endParaRPr lang="en-US" sz="16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E7FFD6B3-C323-7805-FA9C-62255F769750}"/>
              </a:ext>
            </a:extLst>
          </p:cNvPr>
          <p:cNvSpPr txBox="1"/>
          <p:nvPr/>
        </p:nvSpPr>
        <p:spPr>
          <a:xfrm>
            <a:off x="946813" y="1488961"/>
            <a:ext cx="9993573" cy="4031873"/>
          </a:xfrm>
          <a:prstGeom prst="rect">
            <a:avLst/>
          </a:prstGeom>
          <a:noFill/>
        </p:spPr>
        <p:txBody>
          <a:bodyPr wrap="square">
            <a:spAutoFit/>
          </a:bodyPr>
          <a:lstStyle/>
          <a:p>
            <a:r>
              <a:rPr lang="en-US" sz="1600" dirty="0">
                <a:solidFill>
                  <a:schemeClr val="accent3">
                    <a:lumMod val="60000"/>
                    <a:lumOff val="40000"/>
                  </a:schemeClr>
                </a:solidFill>
                <a:latin typeface="Agency FB" panose="020B0503020202020204" pitchFamily="34" charset="0"/>
              </a:rPr>
              <a:t>Microsoft Office </a:t>
            </a:r>
            <a:r>
              <a:rPr lang="en-US" sz="1600" dirty="0">
                <a:solidFill>
                  <a:schemeClr val="accent2">
                    <a:lumMod val="20000"/>
                    <a:lumOff val="80000"/>
                  </a:schemeClr>
                </a:solidFill>
                <a:latin typeface="Agency FB" panose="020B0503020202020204" pitchFamily="34" charset="0"/>
              </a:rPr>
              <a:t>provides a complete set of professional tools that work together to produce high-quality output. Each application is designed for a specific purpose while contributing to an integrated ecosystem.</a:t>
            </a:r>
          </a:p>
          <a:p>
            <a:endParaRPr lang="en-US" sz="1600" dirty="0">
              <a:solidFill>
                <a:schemeClr val="accent2">
                  <a:lumMod val="20000"/>
                  <a:lumOff val="80000"/>
                </a:schemeClr>
              </a:solidFill>
              <a:latin typeface="Agency FB" panose="020B0503020202020204" pitchFamily="34" charset="0"/>
            </a:endParaRPr>
          </a:p>
          <a:p>
            <a:r>
              <a:rPr lang="en-US" sz="1600" dirty="0">
                <a:solidFill>
                  <a:schemeClr val="accent2">
                    <a:lumMod val="20000"/>
                    <a:lumOff val="80000"/>
                  </a:schemeClr>
                </a:solidFill>
                <a:latin typeface="Agency FB" panose="020B0503020202020204" pitchFamily="34" charset="0"/>
              </a:rPr>
              <a:t>The primary applications:</a:t>
            </a:r>
          </a:p>
          <a:p>
            <a:endParaRPr lang="en-US" sz="1600" dirty="0">
              <a:solidFill>
                <a:schemeClr val="accent2">
                  <a:lumMod val="20000"/>
                  <a:lumOff val="80000"/>
                </a:schemeClr>
              </a:solidFill>
              <a:latin typeface="Agency FB" panose="020B0503020202020204" pitchFamily="34" charset="0"/>
            </a:endParaRPr>
          </a:p>
          <a:p>
            <a:r>
              <a:rPr lang="en-US" sz="1600" dirty="0">
                <a:solidFill>
                  <a:schemeClr val="accent1">
                    <a:lumMod val="60000"/>
                    <a:lumOff val="40000"/>
                  </a:schemeClr>
                </a:solidFill>
                <a:latin typeface="Agency FB" panose="020B0503020202020204" pitchFamily="34" charset="0"/>
              </a:rPr>
              <a:t>Microsoft Word</a:t>
            </a:r>
          </a:p>
          <a:p>
            <a:r>
              <a:rPr lang="en-US" sz="1600" dirty="0">
                <a:solidFill>
                  <a:schemeClr val="accent2">
                    <a:lumMod val="20000"/>
                    <a:lumOff val="80000"/>
                  </a:schemeClr>
                </a:solidFill>
                <a:latin typeface="Agency FB" panose="020B0503020202020204" pitchFamily="34" charset="0"/>
              </a:rPr>
              <a:t>Word is the main tool for creating and formatting professional documents,  it is essential for reports, letters, resumes, and academic papers.</a:t>
            </a:r>
          </a:p>
          <a:p>
            <a:endParaRPr lang="en-US" sz="1600" dirty="0">
              <a:solidFill>
                <a:schemeClr val="accent2">
                  <a:lumMod val="20000"/>
                  <a:lumOff val="80000"/>
                </a:schemeClr>
              </a:solidFill>
              <a:latin typeface="Agency FB" panose="020B0503020202020204" pitchFamily="34" charset="0"/>
            </a:endParaRPr>
          </a:p>
          <a:p>
            <a:r>
              <a:rPr lang="en-US" sz="1600" dirty="0">
                <a:solidFill>
                  <a:schemeClr val="accent1">
                    <a:lumMod val="60000"/>
                    <a:lumOff val="40000"/>
                  </a:schemeClr>
                </a:solidFill>
                <a:latin typeface="Agency FB" panose="020B0503020202020204" pitchFamily="34" charset="0"/>
              </a:rPr>
              <a:t>Microsoft Excel</a:t>
            </a:r>
          </a:p>
          <a:p>
            <a:r>
              <a:rPr lang="en-US" sz="1600" dirty="0">
                <a:solidFill>
                  <a:schemeClr val="accent2">
                    <a:lumMod val="20000"/>
                    <a:lumOff val="80000"/>
                  </a:schemeClr>
                </a:solidFill>
                <a:latin typeface="Agency FB" panose="020B0503020202020204" pitchFamily="34" charset="0"/>
              </a:rPr>
              <a:t>Excel is used for organizing, calculating, and analyzing numerical data, it supports financial analysis, statistics, and data-driven decision-making.</a:t>
            </a:r>
          </a:p>
          <a:p>
            <a:endParaRPr lang="en-US" sz="1600" dirty="0">
              <a:solidFill>
                <a:schemeClr val="accent2">
                  <a:lumMod val="20000"/>
                  <a:lumOff val="80000"/>
                </a:schemeClr>
              </a:solidFill>
              <a:latin typeface="Agency FB" panose="020B0503020202020204" pitchFamily="34" charset="0"/>
            </a:endParaRPr>
          </a:p>
          <a:p>
            <a:r>
              <a:rPr lang="en-US" sz="1600" dirty="0">
                <a:solidFill>
                  <a:schemeClr val="accent1">
                    <a:lumMod val="60000"/>
                    <a:lumOff val="40000"/>
                  </a:schemeClr>
                </a:solidFill>
                <a:latin typeface="Agency FB" panose="020B0503020202020204" pitchFamily="34" charset="0"/>
              </a:rPr>
              <a:t>Microsoft PowerPoint</a:t>
            </a:r>
          </a:p>
          <a:p>
            <a:r>
              <a:rPr lang="en-US" sz="1600" dirty="0">
                <a:solidFill>
                  <a:schemeClr val="accent2">
                    <a:lumMod val="20000"/>
                    <a:lumOff val="80000"/>
                  </a:schemeClr>
                </a:solidFill>
                <a:latin typeface="Agency FB" panose="020B0503020202020204" pitchFamily="34" charset="0"/>
              </a:rPr>
              <a:t>PowerPoint focuses on visual presentations to help users communicate ideas clearly and effectively to an audience.</a:t>
            </a:r>
          </a:p>
          <a:p>
            <a:endParaRPr lang="en-US" sz="1600" dirty="0">
              <a:solidFill>
                <a:schemeClr val="accent2">
                  <a:lumMod val="20000"/>
                  <a:lumOff val="80000"/>
                </a:schemeClr>
              </a:solidFill>
              <a:latin typeface="Agency FB" panose="020B0503020202020204" pitchFamily="34" charset="0"/>
            </a:endParaRPr>
          </a:p>
          <a:p>
            <a:r>
              <a:rPr lang="en-US" sz="1600" dirty="0">
                <a:solidFill>
                  <a:schemeClr val="accent1">
                    <a:lumMod val="60000"/>
                    <a:lumOff val="40000"/>
                  </a:schemeClr>
                </a:solidFill>
                <a:latin typeface="Agency FB" panose="020B0503020202020204" pitchFamily="34" charset="0"/>
              </a:rPr>
              <a:t>Microsoft Outlook</a:t>
            </a:r>
          </a:p>
          <a:p>
            <a:r>
              <a:rPr lang="en-US" sz="1600" dirty="0">
                <a:solidFill>
                  <a:schemeClr val="accent2">
                    <a:lumMod val="20000"/>
                    <a:lumOff val="80000"/>
                  </a:schemeClr>
                </a:solidFill>
                <a:latin typeface="Agency FB" panose="020B0503020202020204" pitchFamily="34" charset="0"/>
              </a:rPr>
              <a:t>Outlook is a professional information manager that integrates email, serving as a central communication hub for organizations.</a:t>
            </a:r>
          </a:p>
        </p:txBody>
      </p:sp>
      <p:pic>
        <p:nvPicPr>
          <p:cNvPr id="3074" name="Picture 2" descr="Download Microsoft Word (Multi-Tool Word) Logo in SVG Vector or PNG File  Format - Logo.wine">
            <a:extLst>
              <a:ext uri="{FF2B5EF4-FFF2-40B4-BE49-F238E27FC236}">
                <a16:creationId xmlns:a16="http://schemas.microsoft.com/office/drawing/2014/main" id="{848FCE9B-CF3E-85CF-11F9-112A27BD14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59881" y="1787851"/>
            <a:ext cx="2532117" cy="168807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ownload Microsoft Excel Logo in SVG Vector or PNG File Format - Logo.wine">
            <a:extLst>
              <a:ext uri="{FF2B5EF4-FFF2-40B4-BE49-F238E27FC236}">
                <a16:creationId xmlns:a16="http://schemas.microsoft.com/office/drawing/2014/main" id="{EB165E0F-E83C-A507-667A-90E765A3B1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59881" y="3036485"/>
            <a:ext cx="2532117" cy="168807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44C62416-67CF-3C25-F388-2F850F297A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00004" y="4502240"/>
            <a:ext cx="1027637" cy="994710"/>
          </a:xfrm>
          <a:prstGeom prst="rect">
            <a:avLst/>
          </a:prstGeom>
          <a:noFill/>
          <a:extLst>
            <a:ext uri="{909E8E84-426E-40DD-AFC4-6F175D3DCCD1}">
              <a14:hiddenFill xmlns:a14="http://schemas.microsoft.com/office/drawing/2010/main">
                <a:solidFill>
                  <a:srgbClr val="FFFFFF"/>
                </a:solidFill>
              </a14:hiddenFill>
            </a:ext>
          </a:extLst>
        </p:spPr>
      </p:pic>
      <p:sp>
        <p:nvSpPr>
          <p:cNvPr id="14" name="AutoShape 12" descr="Outlook Email Logo PNG | TOPpng">
            <a:extLst>
              <a:ext uri="{FF2B5EF4-FFF2-40B4-BE49-F238E27FC236}">
                <a16:creationId xmlns:a16="http://schemas.microsoft.com/office/drawing/2014/main" id="{B01B89D7-7A41-9D51-9645-77A2F300067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86" name="Picture 14">
            <a:extLst>
              <a:ext uri="{FF2B5EF4-FFF2-40B4-BE49-F238E27FC236}">
                <a16:creationId xmlns:a16="http://schemas.microsoft.com/office/drawing/2014/main" id="{01B38C89-B755-1521-7F37-F3FE754ECB7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35140" y="5544718"/>
            <a:ext cx="1192501" cy="1008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9093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heel(1)">
                                      <p:cBhvr>
                                        <p:cTn id="15" dur="20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3"/>
                                        </p:tgtEl>
                                      </p:cBhvr>
                                    </p:animEffect>
                                    <p:set>
                                      <p:cBhvr>
                                        <p:cTn id="20" dur="1" fill="hold">
                                          <p:stCondLst>
                                            <p:cond delay="499"/>
                                          </p:stCondLst>
                                        </p:cTn>
                                        <p:tgtEl>
                                          <p:spTgt spid="3"/>
                                        </p:tgtEl>
                                        <p:attrNameLst>
                                          <p:attrName>style.visibility</p:attrName>
                                        </p:attrNameLst>
                                      </p:cBhvr>
                                      <p:to>
                                        <p:strVal val="hidden"/>
                                      </p:to>
                                    </p:set>
                                  </p:childTnLst>
                                </p:cTn>
                              </p:par>
                              <p:par>
                                <p:cTn id="21" presetID="14" presetClass="entr" presetSubtype="5" fill="hold" grpId="0" nodeType="with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animEffect transition="in" filter="randombar(vertical)">
                                      <p:cBhvr>
                                        <p:cTn id="23" dur="500"/>
                                        <p:tgtEl>
                                          <p:spTgt spid="11">
                                            <p:txEl>
                                              <p:pRg st="0" end="0"/>
                                            </p:txEl>
                                          </p:spTgt>
                                        </p:tgtEl>
                                      </p:cBhvr>
                                    </p:animEffect>
                                  </p:childTnLst>
                                </p:cTn>
                              </p:par>
                              <p:par>
                                <p:cTn id="24" presetID="14" presetClass="entr" presetSubtype="5" fill="hold" grpId="0" nodeType="withEffect">
                                  <p:stCondLst>
                                    <p:cond delay="0"/>
                                  </p:stCondLst>
                                  <p:childTnLst>
                                    <p:set>
                                      <p:cBhvr>
                                        <p:cTn id="25" dur="1" fill="hold">
                                          <p:stCondLst>
                                            <p:cond delay="0"/>
                                          </p:stCondLst>
                                        </p:cTn>
                                        <p:tgtEl>
                                          <p:spTgt spid="11">
                                            <p:txEl>
                                              <p:pRg st="2" end="2"/>
                                            </p:txEl>
                                          </p:spTgt>
                                        </p:tgtEl>
                                        <p:attrNameLst>
                                          <p:attrName>style.visibility</p:attrName>
                                        </p:attrNameLst>
                                      </p:cBhvr>
                                      <p:to>
                                        <p:strVal val="visible"/>
                                      </p:to>
                                    </p:set>
                                    <p:animEffect transition="in" filter="randombar(vertical)">
                                      <p:cBhvr>
                                        <p:cTn id="26" dur="500"/>
                                        <p:tgtEl>
                                          <p:spTgt spid="11">
                                            <p:txEl>
                                              <p:pRg st="2" end="2"/>
                                            </p:txEl>
                                          </p:spTgt>
                                        </p:tgtEl>
                                      </p:cBhvr>
                                    </p:animEffect>
                                  </p:childTnLst>
                                </p:cTn>
                              </p:par>
                              <p:par>
                                <p:cTn id="27" presetID="14" presetClass="entr" presetSubtype="5" fill="hold" grpId="0" nodeType="withEffect">
                                  <p:stCondLst>
                                    <p:cond delay="0"/>
                                  </p:stCondLst>
                                  <p:childTnLst>
                                    <p:set>
                                      <p:cBhvr>
                                        <p:cTn id="28" dur="1" fill="hold">
                                          <p:stCondLst>
                                            <p:cond delay="0"/>
                                          </p:stCondLst>
                                        </p:cTn>
                                        <p:tgtEl>
                                          <p:spTgt spid="11">
                                            <p:txEl>
                                              <p:pRg st="4" end="4"/>
                                            </p:txEl>
                                          </p:spTgt>
                                        </p:tgtEl>
                                        <p:attrNameLst>
                                          <p:attrName>style.visibility</p:attrName>
                                        </p:attrNameLst>
                                      </p:cBhvr>
                                      <p:to>
                                        <p:strVal val="visible"/>
                                      </p:to>
                                    </p:set>
                                    <p:animEffect transition="in" filter="randombar(vertical)">
                                      <p:cBhvr>
                                        <p:cTn id="29" dur="500"/>
                                        <p:tgtEl>
                                          <p:spTgt spid="11">
                                            <p:txEl>
                                              <p:pRg st="4" end="4"/>
                                            </p:txEl>
                                          </p:spTgt>
                                        </p:tgtEl>
                                      </p:cBhvr>
                                    </p:animEffect>
                                  </p:childTnLst>
                                </p:cTn>
                              </p:par>
                              <p:par>
                                <p:cTn id="30" presetID="14" presetClass="entr" presetSubtype="5" fill="hold" grpId="0" nodeType="with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randombar(vertical)">
                                      <p:cBhvr>
                                        <p:cTn id="32" dur="500"/>
                                        <p:tgtEl>
                                          <p:spTgt spid="11">
                                            <p:txEl>
                                              <p:pRg st="5" end="5"/>
                                            </p:txEl>
                                          </p:spTgt>
                                        </p:tgtEl>
                                      </p:cBhvr>
                                    </p:animEffect>
                                  </p:childTnLst>
                                </p:cTn>
                              </p:par>
                              <p:par>
                                <p:cTn id="33" presetID="14" presetClass="entr" presetSubtype="5" fill="hold" grpId="0" nodeType="withEffect">
                                  <p:stCondLst>
                                    <p:cond delay="0"/>
                                  </p:stCondLst>
                                  <p:childTnLst>
                                    <p:set>
                                      <p:cBhvr>
                                        <p:cTn id="34" dur="1" fill="hold">
                                          <p:stCondLst>
                                            <p:cond delay="0"/>
                                          </p:stCondLst>
                                        </p:cTn>
                                        <p:tgtEl>
                                          <p:spTgt spid="11">
                                            <p:txEl>
                                              <p:pRg st="7" end="7"/>
                                            </p:txEl>
                                          </p:spTgt>
                                        </p:tgtEl>
                                        <p:attrNameLst>
                                          <p:attrName>style.visibility</p:attrName>
                                        </p:attrNameLst>
                                      </p:cBhvr>
                                      <p:to>
                                        <p:strVal val="visible"/>
                                      </p:to>
                                    </p:set>
                                    <p:animEffect transition="in" filter="randombar(vertical)">
                                      <p:cBhvr>
                                        <p:cTn id="35" dur="500"/>
                                        <p:tgtEl>
                                          <p:spTgt spid="11">
                                            <p:txEl>
                                              <p:pRg st="7" end="7"/>
                                            </p:txEl>
                                          </p:spTgt>
                                        </p:tgtEl>
                                      </p:cBhvr>
                                    </p:animEffect>
                                  </p:childTnLst>
                                </p:cTn>
                              </p:par>
                              <p:par>
                                <p:cTn id="36" presetID="14" presetClass="entr" presetSubtype="5" fill="hold" grpId="0" nodeType="withEffect">
                                  <p:stCondLst>
                                    <p:cond delay="0"/>
                                  </p:stCondLst>
                                  <p:childTnLst>
                                    <p:set>
                                      <p:cBhvr>
                                        <p:cTn id="37" dur="1" fill="hold">
                                          <p:stCondLst>
                                            <p:cond delay="0"/>
                                          </p:stCondLst>
                                        </p:cTn>
                                        <p:tgtEl>
                                          <p:spTgt spid="11">
                                            <p:txEl>
                                              <p:pRg st="8" end="8"/>
                                            </p:txEl>
                                          </p:spTgt>
                                        </p:tgtEl>
                                        <p:attrNameLst>
                                          <p:attrName>style.visibility</p:attrName>
                                        </p:attrNameLst>
                                      </p:cBhvr>
                                      <p:to>
                                        <p:strVal val="visible"/>
                                      </p:to>
                                    </p:set>
                                    <p:animEffect transition="in" filter="randombar(vertical)">
                                      <p:cBhvr>
                                        <p:cTn id="38" dur="500"/>
                                        <p:tgtEl>
                                          <p:spTgt spid="11">
                                            <p:txEl>
                                              <p:pRg st="8" end="8"/>
                                            </p:txEl>
                                          </p:spTgt>
                                        </p:tgtEl>
                                      </p:cBhvr>
                                    </p:animEffect>
                                  </p:childTnLst>
                                </p:cTn>
                              </p:par>
                              <p:par>
                                <p:cTn id="39" presetID="14" presetClass="entr" presetSubtype="5" fill="hold" grpId="0" nodeType="withEffect">
                                  <p:stCondLst>
                                    <p:cond delay="0"/>
                                  </p:stCondLst>
                                  <p:childTnLst>
                                    <p:set>
                                      <p:cBhvr>
                                        <p:cTn id="40" dur="1" fill="hold">
                                          <p:stCondLst>
                                            <p:cond delay="0"/>
                                          </p:stCondLst>
                                        </p:cTn>
                                        <p:tgtEl>
                                          <p:spTgt spid="11">
                                            <p:txEl>
                                              <p:pRg st="10" end="10"/>
                                            </p:txEl>
                                          </p:spTgt>
                                        </p:tgtEl>
                                        <p:attrNameLst>
                                          <p:attrName>style.visibility</p:attrName>
                                        </p:attrNameLst>
                                      </p:cBhvr>
                                      <p:to>
                                        <p:strVal val="visible"/>
                                      </p:to>
                                    </p:set>
                                    <p:animEffect transition="in" filter="randombar(vertical)">
                                      <p:cBhvr>
                                        <p:cTn id="41" dur="500"/>
                                        <p:tgtEl>
                                          <p:spTgt spid="11">
                                            <p:txEl>
                                              <p:pRg st="10" end="10"/>
                                            </p:txEl>
                                          </p:spTgt>
                                        </p:tgtEl>
                                      </p:cBhvr>
                                    </p:animEffect>
                                  </p:childTnLst>
                                </p:cTn>
                              </p:par>
                              <p:par>
                                <p:cTn id="42" presetID="14" presetClass="entr" presetSubtype="5" fill="hold" grpId="0" nodeType="withEffect">
                                  <p:stCondLst>
                                    <p:cond delay="0"/>
                                  </p:stCondLst>
                                  <p:childTnLst>
                                    <p:set>
                                      <p:cBhvr>
                                        <p:cTn id="43" dur="1" fill="hold">
                                          <p:stCondLst>
                                            <p:cond delay="0"/>
                                          </p:stCondLst>
                                        </p:cTn>
                                        <p:tgtEl>
                                          <p:spTgt spid="11">
                                            <p:txEl>
                                              <p:pRg st="11" end="11"/>
                                            </p:txEl>
                                          </p:spTgt>
                                        </p:tgtEl>
                                        <p:attrNameLst>
                                          <p:attrName>style.visibility</p:attrName>
                                        </p:attrNameLst>
                                      </p:cBhvr>
                                      <p:to>
                                        <p:strVal val="visible"/>
                                      </p:to>
                                    </p:set>
                                    <p:animEffect transition="in" filter="randombar(vertical)">
                                      <p:cBhvr>
                                        <p:cTn id="44" dur="500"/>
                                        <p:tgtEl>
                                          <p:spTgt spid="11">
                                            <p:txEl>
                                              <p:pRg st="11" end="11"/>
                                            </p:txEl>
                                          </p:spTgt>
                                        </p:tgtEl>
                                      </p:cBhvr>
                                    </p:animEffect>
                                  </p:childTnLst>
                                </p:cTn>
                              </p:par>
                              <p:par>
                                <p:cTn id="45" presetID="14" presetClass="entr" presetSubtype="5" fill="hold" grpId="0" nodeType="withEffect">
                                  <p:stCondLst>
                                    <p:cond delay="0"/>
                                  </p:stCondLst>
                                  <p:childTnLst>
                                    <p:set>
                                      <p:cBhvr>
                                        <p:cTn id="46" dur="1" fill="hold">
                                          <p:stCondLst>
                                            <p:cond delay="0"/>
                                          </p:stCondLst>
                                        </p:cTn>
                                        <p:tgtEl>
                                          <p:spTgt spid="11">
                                            <p:txEl>
                                              <p:pRg st="13" end="13"/>
                                            </p:txEl>
                                          </p:spTgt>
                                        </p:tgtEl>
                                        <p:attrNameLst>
                                          <p:attrName>style.visibility</p:attrName>
                                        </p:attrNameLst>
                                      </p:cBhvr>
                                      <p:to>
                                        <p:strVal val="visible"/>
                                      </p:to>
                                    </p:set>
                                    <p:animEffect transition="in" filter="randombar(vertical)">
                                      <p:cBhvr>
                                        <p:cTn id="47" dur="500"/>
                                        <p:tgtEl>
                                          <p:spTgt spid="11">
                                            <p:txEl>
                                              <p:pRg st="13" end="13"/>
                                            </p:txEl>
                                          </p:spTgt>
                                        </p:tgtEl>
                                      </p:cBhvr>
                                    </p:animEffect>
                                  </p:childTnLst>
                                </p:cTn>
                              </p:par>
                              <p:par>
                                <p:cTn id="48" presetID="14" presetClass="entr" presetSubtype="5" fill="hold" grpId="0" nodeType="withEffect">
                                  <p:stCondLst>
                                    <p:cond delay="0"/>
                                  </p:stCondLst>
                                  <p:childTnLst>
                                    <p:set>
                                      <p:cBhvr>
                                        <p:cTn id="49" dur="1" fill="hold">
                                          <p:stCondLst>
                                            <p:cond delay="0"/>
                                          </p:stCondLst>
                                        </p:cTn>
                                        <p:tgtEl>
                                          <p:spTgt spid="11">
                                            <p:txEl>
                                              <p:pRg st="14" end="14"/>
                                            </p:txEl>
                                          </p:spTgt>
                                        </p:tgtEl>
                                        <p:attrNameLst>
                                          <p:attrName>style.visibility</p:attrName>
                                        </p:attrNameLst>
                                      </p:cBhvr>
                                      <p:to>
                                        <p:strVal val="visible"/>
                                      </p:to>
                                    </p:set>
                                    <p:animEffect transition="in" filter="randombar(vertical)">
                                      <p:cBhvr>
                                        <p:cTn id="50" dur="500"/>
                                        <p:tgtEl>
                                          <p:spTgt spid="11">
                                            <p:txEl>
                                              <p:pRg st="14" end="14"/>
                                            </p:txEl>
                                          </p:spTgt>
                                        </p:tgtEl>
                                      </p:cBhvr>
                                    </p:animEffect>
                                  </p:childTnLst>
                                </p:cTn>
                              </p:par>
                              <p:par>
                                <p:cTn id="51" presetID="45" presetClass="entr" presetSubtype="0" fill="hold" nodeType="withEffect">
                                  <p:stCondLst>
                                    <p:cond delay="0"/>
                                  </p:stCondLst>
                                  <p:childTnLst>
                                    <p:set>
                                      <p:cBhvr>
                                        <p:cTn id="52" dur="1" fill="hold">
                                          <p:stCondLst>
                                            <p:cond delay="0"/>
                                          </p:stCondLst>
                                        </p:cTn>
                                        <p:tgtEl>
                                          <p:spTgt spid="3074"/>
                                        </p:tgtEl>
                                        <p:attrNameLst>
                                          <p:attrName>style.visibility</p:attrName>
                                        </p:attrNameLst>
                                      </p:cBhvr>
                                      <p:to>
                                        <p:strVal val="visible"/>
                                      </p:to>
                                    </p:set>
                                    <p:animEffect transition="in" filter="fade">
                                      <p:cBhvr>
                                        <p:cTn id="53" dur="2000"/>
                                        <p:tgtEl>
                                          <p:spTgt spid="3074"/>
                                        </p:tgtEl>
                                      </p:cBhvr>
                                    </p:animEffect>
                                    <p:anim calcmode="lin" valueType="num">
                                      <p:cBhvr>
                                        <p:cTn id="54" dur="2000" fill="hold"/>
                                        <p:tgtEl>
                                          <p:spTgt spid="3074"/>
                                        </p:tgtEl>
                                        <p:attrNameLst>
                                          <p:attrName>ppt_w</p:attrName>
                                        </p:attrNameLst>
                                      </p:cBhvr>
                                      <p:tavLst>
                                        <p:tav tm="0" fmla="#ppt_w*sin(2.5*pi*$)">
                                          <p:val>
                                            <p:fltVal val="0"/>
                                          </p:val>
                                        </p:tav>
                                        <p:tav tm="100000">
                                          <p:val>
                                            <p:fltVal val="1"/>
                                          </p:val>
                                        </p:tav>
                                      </p:tavLst>
                                    </p:anim>
                                    <p:anim calcmode="lin" valueType="num">
                                      <p:cBhvr>
                                        <p:cTn id="55" dur="2000" fill="hold"/>
                                        <p:tgtEl>
                                          <p:spTgt spid="3074"/>
                                        </p:tgtEl>
                                        <p:attrNameLst>
                                          <p:attrName>ppt_h</p:attrName>
                                        </p:attrNameLst>
                                      </p:cBhvr>
                                      <p:tavLst>
                                        <p:tav tm="0">
                                          <p:val>
                                            <p:strVal val="#ppt_h"/>
                                          </p:val>
                                        </p:tav>
                                        <p:tav tm="100000">
                                          <p:val>
                                            <p:strVal val="#ppt_h"/>
                                          </p:val>
                                        </p:tav>
                                      </p:tavLst>
                                    </p:anim>
                                  </p:childTnLst>
                                </p:cTn>
                              </p:par>
                              <p:par>
                                <p:cTn id="56" presetID="45" presetClass="entr" presetSubtype="0" fill="hold" nodeType="withEffect">
                                  <p:stCondLst>
                                    <p:cond delay="0"/>
                                  </p:stCondLst>
                                  <p:childTnLst>
                                    <p:set>
                                      <p:cBhvr>
                                        <p:cTn id="57" dur="1" fill="hold">
                                          <p:stCondLst>
                                            <p:cond delay="0"/>
                                          </p:stCondLst>
                                        </p:cTn>
                                        <p:tgtEl>
                                          <p:spTgt spid="3076"/>
                                        </p:tgtEl>
                                        <p:attrNameLst>
                                          <p:attrName>style.visibility</p:attrName>
                                        </p:attrNameLst>
                                      </p:cBhvr>
                                      <p:to>
                                        <p:strVal val="visible"/>
                                      </p:to>
                                    </p:set>
                                    <p:animEffect transition="in" filter="fade">
                                      <p:cBhvr>
                                        <p:cTn id="58" dur="2000"/>
                                        <p:tgtEl>
                                          <p:spTgt spid="3076"/>
                                        </p:tgtEl>
                                      </p:cBhvr>
                                    </p:animEffect>
                                    <p:anim calcmode="lin" valueType="num">
                                      <p:cBhvr>
                                        <p:cTn id="59" dur="2000" fill="hold"/>
                                        <p:tgtEl>
                                          <p:spTgt spid="3076"/>
                                        </p:tgtEl>
                                        <p:attrNameLst>
                                          <p:attrName>ppt_w</p:attrName>
                                        </p:attrNameLst>
                                      </p:cBhvr>
                                      <p:tavLst>
                                        <p:tav tm="0" fmla="#ppt_w*sin(2.5*pi*$)">
                                          <p:val>
                                            <p:fltVal val="0"/>
                                          </p:val>
                                        </p:tav>
                                        <p:tav tm="100000">
                                          <p:val>
                                            <p:fltVal val="1"/>
                                          </p:val>
                                        </p:tav>
                                      </p:tavLst>
                                    </p:anim>
                                    <p:anim calcmode="lin" valueType="num">
                                      <p:cBhvr>
                                        <p:cTn id="60" dur="2000" fill="hold"/>
                                        <p:tgtEl>
                                          <p:spTgt spid="3076"/>
                                        </p:tgtEl>
                                        <p:attrNameLst>
                                          <p:attrName>ppt_h</p:attrName>
                                        </p:attrNameLst>
                                      </p:cBhvr>
                                      <p:tavLst>
                                        <p:tav tm="0">
                                          <p:val>
                                            <p:strVal val="#ppt_h"/>
                                          </p:val>
                                        </p:tav>
                                        <p:tav tm="100000">
                                          <p:val>
                                            <p:strVal val="#ppt_h"/>
                                          </p:val>
                                        </p:tav>
                                      </p:tavLst>
                                    </p:anim>
                                  </p:childTnLst>
                                </p:cTn>
                              </p:par>
                              <p:par>
                                <p:cTn id="61" presetID="45" presetClass="entr" presetSubtype="0" fill="hold" nodeType="withEffect">
                                  <p:stCondLst>
                                    <p:cond delay="0"/>
                                  </p:stCondLst>
                                  <p:childTnLst>
                                    <p:set>
                                      <p:cBhvr>
                                        <p:cTn id="62" dur="1" fill="hold">
                                          <p:stCondLst>
                                            <p:cond delay="0"/>
                                          </p:stCondLst>
                                        </p:cTn>
                                        <p:tgtEl>
                                          <p:spTgt spid="3078"/>
                                        </p:tgtEl>
                                        <p:attrNameLst>
                                          <p:attrName>style.visibility</p:attrName>
                                        </p:attrNameLst>
                                      </p:cBhvr>
                                      <p:to>
                                        <p:strVal val="visible"/>
                                      </p:to>
                                    </p:set>
                                    <p:animEffect transition="in" filter="fade">
                                      <p:cBhvr>
                                        <p:cTn id="63" dur="2000"/>
                                        <p:tgtEl>
                                          <p:spTgt spid="3078"/>
                                        </p:tgtEl>
                                      </p:cBhvr>
                                    </p:animEffect>
                                    <p:anim calcmode="lin" valueType="num">
                                      <p:cBhvr>
                                        <p:cTn id="64" dur="2000" fill="hold"/>
                                        <p:tgtEl>
                                          <p:spTgt spid="3078"/>
                                        </p:tgtEl>
                                        <p:attrNameLst>
                                          <p:attrName>ppt_w</p:attrName>
                                        </p:attrNameLst>
                                      </p:cBhvr>
                                      <p:tavLst>
                                        <p:tav tm="0" fmla="#ppt_w*sin(2.5*pi*$)">
                                          <p:val>
                                            <p:fltVal val="0"/>
                                          </p:val>
                                        </p:tav>
                                        <p:tav tm="100000">
                                          <p:val>
                                            <p:fltVal val="1"/>
                                          </p:val>
                                        </p:tav>
                                      </p:tavLst>
                                    </p:anim>
                                    <p:anim calcmode="lin" valueType="num">
                                      <p:cBhvr>
                                        <p:cTn id="65" dur="2000" fill="hold"/>
                                        <p:tgtEl>
                                          <p:spTgt spid="3078"/>
                                        </p:tgtEl>
                                        <p:attrNameLst>
                                          <p:attrName>ppt_h</p:attrName>
                                        </p:attrNameLst>
                                      </p:cBhvr>
                                      <p:tavLst>
                                        <p:tav tm="0">
                                          <p:val>
                                            <p:strVal val="#ppt_h"/>
                                          </p:val>
                                        </p:tav>
                                        <p:tav tm="100000">
                                          <p:val>
                                            <p:strVal val="#ppt_h"/>
                                          </p:val>
                                        </p:tav>
                                      </p:tavLst>
                                    </p:anim>
                                  </p:childTnLst>
                                </p:cTn>
                              </p:par>
                              <p:par>
                                <p:cTn id="66" presetID="45" presetClass="entr" presetSubtype="0" fill="hold" nodeType="withEffect">
                                  <p:stCondLst>
                                    <p:cond delay="0"/>
                                  </p:stCondLst>
                                  <p:childTnLst>
                                    <p:set>
                                      <p:cBhvr>
                                        <p:cTn id="67" dur="1" fill="hold">
                                          <p:stCondLst>
                                            <p:cond delay="0"/>
                                          </p:stCondLst>
                                        </p:cTn>
                                        <p:tgtEl>
                                          <p:spTgt spid="3086"/>
                                        </p:tgtEl>
                                        <p:attrNameLst>
                                          <p:attrName>style.visibility</p:attrName>
                                        </p:attrNameLst>
                                      </p:cBhvr>
                                      <p:to>
                                        <p:strVal val="visible"/>
                                      </p:to>
                                    </p:set>
                                    <p:animEffect transition="in" filter="fade">
                                      <p:cBhvr>
                                        <p:cTn id="68" dur="2000"/>
                                        <p:tgtEl>
                                          <p:spTgt spid="3086"/>
                                        </p:tgtEl>
                                      </p:cBhvr>
                                    </p:animEffect>
                                    <p:anim calcmode="lin" valueType="num">
                                      <p:cBhvr>
                                        <p:cTn id="69" dur="2000" fill="hold"/>
                                        <p:tgtEl>
                                          <p:spTgt spid="3086"/>
                                        </p:tgtEl>
                                        <p:attrNameLst>
                                          <p:attrName>ppt_w</p:attrName>
                                        </p:attrNameLst>
                                      </p:cBhvr>
                                      <p:tavLst>
                                        <p:tav tm="0" fmla="#ppt_w*sin(2.5*pi*$)">
                                          <p:val>
                                            <p:fltVal val="0"/>
                                          </p:val>
                                        </p:tav>
                                        <p:tav tm="100000">
                                          <p:val>
                                            <p:fltVal val="1"/>
                                          </p:val>
                                        </p:tav>
                                      </p:tavLst>
                                    </p:anim>
                                    <p:anim calcmode="lin" valueType="num">
                                      <p:cBhvr>
                                        <p:cTn id="70" dur="2000" fill="hold"/>
                                        <p:tgtEl>
                                          <p:spTgt spid="3086"/>
                                        </p:tgtEl>
                                        <p:attrNameLst>
                                          <p:attrName>ppt_h</p:attrName>
                                        </p:attrNameLst>
                                      </p:cBhvr>
                                      <p:tavLst>
                                        <p:tav tm="0">
                                          <p:val>
                                            <p:strVal val="#ppt_h"/>
                                          </p:val>
                                        </p:tav>
                                        <p:tav tm="100000">
                                          <p:val>
                                            <p:strVal val="#ppt_h"/>
                                          </p:val>
                                        </p:tav>
                                      </p:tavLst>
                                    </p:anim>
                                  </p:childTnLst>
                                </p:cTn>
                              </p:par>
                              <p:par>
                                <p:cTn id="71" presetID="14" presetClass="exit" presetSubtype="5" fill="hold" grpId="1" nodeType="withEffect">
                                  <p:stCondLst>
                                    <p:cond delay="0"/>
                                  </p:stCondLst>
                                  <p:childTnLst>
                                    <p:animEffect transition="out" filter="randombar(vertical)">
                                      <p:cBhvr>
                                        <p:cTn id="72" dur="500"/>
                                        <p:tgtEl>
                                          <p:spTgt spid="7"/>
                                        </p:tgtEl>
                                      </p:cBhvr>
                                    </p:animEffect>
                                    <p:set>
                                      <p:cBhvr>
                                        <p:cTn id="73"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7" grpId="1"/>
      <p:bldP spid="11"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FEC032-E13F-52F0-FF35-A323172355E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4BBF7B75-D336-4AD4-35B4-AD2ED6FF6A08}"/>
              </a:ext>
            </a:extLst>
          </p:cNvPr>
          <p:cNvSpPr txBox="1"/>
          <p:nvPr/>
        </p:nvSpPr>
        <p:spPr>
          <a:xfrm>
            <a:off x="1306774" y="562108"/>
            <a:ext cx="6189258" cy="476284"/>
          </a:xfrm>
          <a:prstGeom prst="rect">
            <a:avLst/>
          </a:prstGeom>
          <a:noFill/>
        </p:spPr>
        <p:txBody>
          <a:bodyPr wrap="square">
            <a:spAutoFit/>
          </a:bodyPr>
          <a:lstStyle/>
          <a:p>
            <a:pPr marL="514350" marR="0" lvl="0" indent="-514350" rtl="0">
              <a:lnSpc>
                <a:spcPct val="115000"/>
              </a:lnSpc>
              <a:spcAft>
                <a:spcPts val="1000"/>
              </a:spcAft>
              <a:buFont typeface="+mj-lt"/>
              <a:buAutoNum type="romanUcPeriod" startAt="6"/>
            </a:pPr>
            <a:r>
              <a:rPr lang="en-US" sz="2400" b="1"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Introduction To Git &amp; GitHub</a:t>
            </a:r>
            <a:endParaRPr lang="en-US" sz="2400"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FA5B1C4A-89CA-D2FA-AF1D-69773E26514A}"/>
              </a:ext>
            </a:extLst>
          </p:cNvPr>
          <p:cNvSpPr txBox="1"/>
          <p:nvPr/>
        </p:nvSpPr>
        <p:spPr>
          <a:xfrm>
            <a:off x="1306774" y="1371714"/>
            <a:ext cx="6189258" cy="1043876"/>
          </a:xfrm>
          <a:prstGeom prst="rect">
            <a:avLst/>
          </a:prstGeom>
          <a:noFill/>
        </p:spPr>
        <p:txBody>
          <a:bodyPr wrap="square">
            <a:spAutoFit/>
          </a:bodyPr>
          <a:lstStyle/>
          <a:p>
            <a:pPr marL="742950" marR="0" lvl="1" indent="-285750" rtl="0">
              <a:lnSpc>
                <a:spcPct val="115000"/>
              </a:lnSpc>
              <a:spcAft>
                <a:spcPts val="1000"/>
              </a:spcAft>
              <a:buFont typeface="+mj-lt"/>
              <a:buAutoNum type="arabicPeriod"/>
            </a:pPr>
            <a:r>
              <a:rPr lang="en-US" b="1" kern="100" dirty="0">
                <a:solidFill>
                  <a:schemeClr val="accent2">
                    <a:lumMod val="40000"/>
                    <a:lumOff val="60000"/>
                  </a:schemeClr>
                </a:solidFill>
                <a:effectLst/>
                <a:latin typeface="Agency FB" panose="020B0503020202020204" pitchFamily="34" charset="0"/>
                <a:ea typeface="Calibri" panose="020F0502020204030204" pitchFamily="34" charset="0"/>
                <a:cs typeface="Arial" panose="020B0604020202020204" pitchFamily="34" charset="0"/>
              </a:rPr>
              <a:t>What is Git?</a:t>
            </a:r>
            <a:endParaRPr lang="en-US" kern="100" dirty="0">
              <a:solidFill>
                <a:schemeClr val="accent2">
                  <a:lumMod val="40000"/>
                  <a:lumOff val="6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nSpc>
                <a:spcPct val="107000"/>
              </a:lnSpc>
              <a:spcAft>
                <a:spcPts val="800"/>
              </a:spcAft>
              <a:buNone/>
            </a:pPr>
            <a:r>
              <a:rPr lang="en-US" sz="1600" b="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Git</a:t>
            </a:r>
            <a:r>
              <a:rPr lang="en-US" sz="16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is a free, open-source distributed version control system designed to handle everything from small to very large projects with speed and efficiency</a:t>
            </a:r>
            <a:r>
              <a:rPr lang="en-US" sz="1600" b="1" dirty="0">
                <a:solidFill>
                  <a:srgbClr val="4472C4"/>
                </a:solidFill>
                <a:effectLst/>
                <a:latin typeface="Agency FB" panose="020B0503020202020204" pitchFamily="34" charset="0"/>
                <a:ea typeface="Calibri" panose="020F0502020204030204" pitchFamily="34" charset="0"/>
                <a:cs typeface="Arial" panose="020B0604020202020204" pitchFamily="34" charset="0"/>
              </a:rPr>
              <a:t>.</a:t>
            </a:r>
            <a:endParaRPr lang="en-US" sz="1600" dirty="0">
              <a:effectLst/>
              <a:latin typeface="Agency FB" panose="020B0503020202020204" pitchFamily="34" charset="0"/>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8B3B7949-32B6-DDDC-55E0-64FCB8A91733}"/>
              </a:ext>
            </a:extLst>
          </p:cNvPr>
          <p:cNvPicPr>
            <a:picLocks noChangeAspect="1"/>
          </p:cNvPicPr>
          <p:nvPr/>
        </p:nvPicPr>
        <p:blipFill>
          <a:blip r:embed="rId4" cstate="print">
            <a:alphaModFix amt="25000"/>
            <a:extLst>
              <a:ext uri="{28A0092B-C50C-407E-A947-70E740481C1C}">
                <a14:useLocalDpi xmlns:a14="http://schemas.microsoft.com/office/drawing/2010/main" val="0"/>
              </a:ext>
            </a:extLst>
          </a:blip>
          <a:stretch>
            <a:fillRect/>
          </a:stretch>
        </p:blipFill>
        <p:spPr>
          <a:xfrm>
            <a:off x="7549390" y="1704586"/>
            <a:ext cx="2294625" cy="2294625"/>
          </a:xfrm>
          <a:prstGeom prst="snip2DiagRect">
            <a:avLst/>
          </a:prstGeom>
          <a:no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B2D9EF3E-2D87-4BFC-FEF0-DE452B5A2968}"/>
              </a:ext>
            </a:extLst>
          </p:cNvPr>
          <p:cNvSpPr txBox="1"/>
          <p:nvPr/>
        </p:nvSpPr>
        <p:spPr>
          <a:xfrm>
            <a:off x="2038350" y="2851899"/>
            <a:ext cx="1680268" cy="1415772"/>
          </a:xfrm>
          <a:prstGeom prst="rect">
            <a:avLst/>
          </a:prstGeom>
          <a:noFill/>
        </p:spPr>
        <p:txBody>
          <a:bodyPr wrap="none" rtlCol="0">
            <a:spAutoFit/>
          </a:bodyPr>
          <a:lstStyle/>
          <a:p>
            <a:r>
              <a:rPr lang="fr-FR" sz="2000" dirty="0">
                <a:solidFill>
                  <a:schemeClr val="accent2">
                    <a:lumMod val="40000"/>
                    <a:lumOff val="60000"/>
                  </a:schemeClr>
                </a:solidFill>
                <a:latin typeface="Agency FB" panose="020B0503020202020204" pitchFamily="34" charset="0"/>
              </a:rPr>
              <a:t>Capabilities:</a:t>
            </a:r>
          </a:p>
          <a:p>
            <a:r>
              <a:rPr lang="fr-FR" dirty="0">
                <a:solidFill>
                  <a:schemeClr val="accent2">
                    <a:lumMod val="40000"/>
                    <a:lumOff val="60000"/>
                  </a:schemeClr>
                </a:solidFill>
                <a:latin typeface="Agency FB" panose="020B0503020202020204" pitchFamily="34" charset="0"/>
              </a:rPr>
              <a:t>    </a:t>
            </a:r>
            <a:r>
              <a:rPr lang="en-US" sz="1600" i="1" dirty="0">
                <a:solidFill>
                  <a:schemeClr val="accent2">
                    <a:lumMod val="20000"/>
                    <a:lumOff val="80000"/>
                  </a:schemeClr>
                </a:solidFill>
                <a:latin typeface="Agency FB" panose="020B0503020202020204" pitchFamily="34" charset="0"/>
              </a:rPr>
              <a:t>Version Tracking</a:t>
            </a:r>
          </a:p>
          <a:p>
            <a:r>
              <a:rPr lang="en-US" sz="1600" i="1" dirty="0">
                <a:solidFill>
                  <a:schemeClr val="accent2">
                    <a:lumMod val="20000"/>
                    <a:lumOff val="80000"/>
                  </a:schemeClr>
                </a:solidFill>
                <a:latin typeface="Agency FB" panose="020B0503020202020204" pitchFamily="34" charset="0"/>
              </a:rPr>
              <a:t>    Local Management</a:t>
            </a:r>
          </a:p>
          <a:p>
            <a:r>
              <a:rPr lang="en-US" sz="1600" i="1" dirty="0">
                <a:solidFill>
                  <a:schemeClr val="accent2">
                    <a:lumMod val="20000"/>
                    <a:lumOff val="80000"/>
                  </a:schemeClr>
                </a:solidFill>
                <a:latin typeface="Agency FB" panose="020B0503020202020204" pitchFamily="34" charset="0"/>
              </a:rPr>
              <a:t>    Branching &amp; Merging</a:t>
            </a:r>
          </a:p>
          <a:p>
            <a:r>
              <a:rPr lang="en-US" sz="1600" i="1" dirty="0">
                <a:solidFill>
                  <a:schemeClr val="accent2">
                    <a:lumMod val="20000"/>
                    <a:lumOff val="80000"/>
                  </a:schemeClr>
                </a:solidFill>
                <a:latin typeface="Agency FB" panose="020B0503020202020204" pitchFamily="34" charset="0"/>
              </a:rPr>
              <a:t>    Data Integrity</a:t>
            </a:r>
            <a:endParaRPr lang="en-US" sz="1600" dirty="0">
              <a:solidFill>
                <a:schemeClr val="accent2">
                  <a:lumMod val="20000"/>
                  <a:lumOff val="80000"/>
                </a:schemeClr>
              </a:solidFill>
              <a:latin typeface="Agency FB" panose="020B0503020202020204" pitchFamily="34" charset="0"/>
            </a:endParaRPr>
          </a:p>
        </p:txBody>
      </p:sp>
    </p:spTree>
    <p:extLst>
      <p:ext uri="{BB962C8B-B14F-4D97-AF65-F5344CB8AC3E}">
        <p14:creationId xmlns:p14="http://schemas.microsoft.com/office/powerpoint/2010/main" val="375969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500"/>
                            </p:stCondLst>
                            <p:childTnLst>
                              <p:par>
                                <p:cTn id="17" presetID="2" presetClass="entr" presetSubtype="8" fill="hold" grpId="0" nodeType="after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2" presetClass="entr" presetSubtype="8" fill="hold" grpId="0" nodeType="after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 calcmode="lin" valueType="num">
                                      <p:cBhvr additive="base">
                                        <p:cTn id="24"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26" fill="hold">
                            <p:stCondLst>
                              <p:cond delay="1500"/>
                            </p:stCondLst>
                            <p:childTnLst>
                              <p:par>
                                <p:cTn id="27" presetID="2" presetClass="entr" presetSubtype="8" fill="hold" grpId="0" nodeType="after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31" fill="hold">
                            <p:stCondLst>
                              <p:cond delay="2000"/>
                            </p:stCondLst>
                            <p:childTnLst>
                              <p:par>
                                <p:cTn id="32" presetID="2" presetClass="entr" presetSubtype="8" fill="hold" grpId="0" nodeType="after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 calcmode="lin" valueType="num">
                                      <p:cBhvr additive="base">
                                        <p:cTn id="34"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par>
                          <p:cTn id="36" fill="hold">
                            <p:stCondLst>
                              <p:cond delay="2500"/>
                            </p:stCondLst>
                            <p:childTnLst>
                              <p:par>
                                <p:cTn id="37" presetID="2" presetClass="entr" presetSubtype="8" fill="hold" grpId="0" nodeType="after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 calcmode="lin" valueType="num">
                                      <p:cBhvr additive="base">
                                        <p:cTn id="39"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41E561-0F7F-F645-2510-A5C761BEDEE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a:extLst>
              <a:ext uri="{FF2B5EF4-FFF2-40B4-BE49-F238E27FC236}">
                <a16:creationId xmlns:a16="http://schemas.microsoft.com/office/drawing/2014/main" id="{318C3673-7E32-0F14-2E48-50E501B55B23}"/>
              </a:ext>
            </a:extLst>
          </p:cNvPr>
          <p:cNvPicPr>
            <a:picLocks noChangeAspect="1"/>
          </p:cNvPicPr>
          <p:nvPr/>
        </p:nvPicPr>
        <p:blipFill>
          <a:blip r:embed="rId4">
            <a:alphaModFix amt="30000"/>
            <a:extLst>
              <a:ext uri="{28A0092B-C50C-407E-A947-70E740481C1C}">
                <a14:useLocalDpi xmlns:a14="http://schemas.microsoft.com/office/drawing/2010/main" val="0"/>
              </a:ext>
            </a:extLst>
          </a:blip>
          <a:stretch>
            <a:fillRect/>
          </a:stretch>
        </p:blipFill>
        <p:spPr>
          <a:xfrm>
            <a:off x="3359198" y="1946939"/>
            <a:ext cx="8502554" cy="4053386"/>
          </a:xfrm>
          <a:prstGeom prst="rect">
            <a:avLst/>
          </a:prstGeom>
        </p:spPr>
      </p:pic>
      <p:sp>
        <p:nvSpPr>
          <p:cNvPr id="5" name="TextBox 4">
            <a:extLst>
              <a:ext uri="{FF2B5EF4-FFF2-40B4-BE49-F238E27FC236}">
                <a16:creationId xmlns:a16="http://schemas.microsoft.com/office/drawing/2014/main" id="{EC0DCA35-BD69-3790-FF96-802715BD74B9}"/>
              </a:ext>
            </a:extLst>
          </p:cNvPr>
          <p:cNvSpPr txBox="1"/>
          <p:nvPr/>
        </p:nvSpPr>
        <p:spPr>
          <a:xfrm>
            <a:off x="1514475" y="689214"/>
            <a:ext cx="6096000" cy="1008738"/>
          </a:xfrm>
          <a:prstGeom prst="rect">
            <a:avLst/>
          </a:prstGeom>
          <a:noFill/>
        </p:spPr>
        <p:txBody>
          <a:bodyPr wrap="square">
            <a:spAutoFit/>
          </a:bodyPr>
          <a:lstStyle/>
          <a:p>
            <a:pPr marL="742950" marR="0" lvl="1" indent="-285750" rtl="0">
              <a:lnSpc>
                <a:spcPct val="115000"/>
              </a:lnSpc>
              <a:spcAft>
                <a:spcPts val="1000"/>
              </a:spcAft>
              <a:buFont typeface="+mj-lt"/>
              <a:buAutoNum type="arabicPeriod"/>
            </a:pPr>
            <a:r>
              <a:rPr lang="en-US" sz="1600" b="1" kern="100" dirty="0">
                <a:solidFill>
                  <a:schemeClr val="accent2">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What is GitHub?</a:t>
            </a:r>
            <a:endParaRPr lang="en-US" sz="1100" kern="100" dirty="0">
              <a:solidFill>
                <a:schemeClr val="accent2">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nSpc>
                <a:spcPct val="107000"/>
              </a:lnSpc>
              <a:spcAft>
                <a:spcPts val="800"/>
              </a:spcAft>
              <a:buNone/>
            </a:pPr>
            <a:r>
              <a:rPr lang="en-US" sz="1600" b="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GitHub</a:t>
            </a:r>
            <a:r>
              <a:rPr lang="en-US" sz="16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is a cloud-based hosting service that lets you manage Git repositories. It provides a web-based interface and additional tools for team collaboration.</a:t>
            </a:r>
          </a:p>
        </p:txBody>
      </p:sp>
      <p:sp>
        <p:nvSpPr>
          <p:cNvPr id="7" name="TextBox 6">
            <a:extLst>
              <a:ext uri="{FF2B5EF4-FFF2-40B4-BE49-F238E27FC236}">
                <a16:creationId xmlns:a16="http://schemas.microsoft.com/office/drawing/2014/main" id="{4F3F3465-8D0B-2D37-3925-284BDC26E0EE}"/>
              </a:ext>
            </a:extLst>
          </p:cNvPr>
          <p:cNvSpPr txBox="1"/>
          <p:nvPr/>
        </p:nvSpPr>
        <p:spPr>
          <a:xfrm>
            <a:off x="2100263" y="2019199"/>
            <a:ext cx="6162674" cy="1896866"/>
          </a:xfrm>
          <a:prstGeom prst="rect">
            <a:avLst/>
          </a:prstGeom>
          <a:noFill/>
        </p:spPr>
        <p:txBody>
          <a:bodyPr wrap="square">
            <a:spAutoFit/>
          </a:bodyPr>
          <a:lstStyle/>
          <a:p>
            <a:pPr>
              <a:lnSpc>
                <a:spcPct val="107000"/>
              </a:lnSpc>
              <a:spcAft>
                <a:spcPts val="800"/>
              </a:spcAft>
            </a:pPr>
            <a:r>
              <a:rPr lang="fr-FR" sz="2000" dirty="0">
                <a:solidFill>
                  <a:schemeClr val="accent2">
                    <a:lumMod val="40000"/>
                    <a:lumOff val="60000"/>
                  </a:schemeClr>
                </a:solidFill>
                <a:latin typeface="Agency FB" panose="020B0503020202020204" pitchFamily="34" charset="0"/>
              </a:rPr>
              <a:t>Capabilities:</a:t>
            </a:r>
            <a:endParaRPr lang="en-US" sz="2000" b="1" i="1" dirty="0">
              <a:solidFill>
                <a:srgbClr val="70AD47"/>
              </a:solidFill>
              <a:effectLst/>
              <a:latin typeface="Agency FB" panose="020B0503020202020204" pitchFamily="34" charset="0"/>
              <a:ea typeface="Calibri" panose="020F0502020204030204" pitchFamily="34" charset="0"/>
              <a:cs typeface="Arial" panose="020B0604020202020204" pitchFamily="34" charset="0"/>
            </a:endParaRPr>
          </a:p>
          <a:p>
            <a:pPr marL="0" marR="0">
              <a:lnSpc>
                <a:spcPct val="107000"/>
              </a:lnSpc>
              <a:spcAft>
                <a:spcPts val="800"/>
              </a:spcAft>
              <a:buNone/>
            </a:pPr>
            <a:r>
              <a:rPr lang="en-US" sz="1600" b="1" i="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Cloud Hosting</a:t>
            </a:r>
            <a:endParaRPr lang="en-US" sz="1600" b="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nSpc>
                <a:spcPct val="107000"/>
              </a:lnSpc>
              <a:spcAft>
                <a:spcPts val="800"/>
              </a:spcAft>
              <a:buNone/>
            </a:pPr>
            <a:r>
              <a:rPr lang="en-US" sz="1600" b="1" i="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Collaboration Tools</a:t>
            </a:r>
            <a:endParaRPr lang="en-US" sz="1600" b="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nSpc>
                <a:spcPct val="107000"/>
              </a:lnSpc>
              <a:spcAft>
                <a:spcPts val="800"/>
              </a:spcAft>
              <a:buNone/>
            </a:pPr>
            <a:r>
              <a:rPr lang="en-US" sz="1600" b="1" i="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Project Management</a:t>
            </a:r>
            <a:endParaRPr lang="en-US" sz="1600" b="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0" marR="0">
              <a:lnSpc>
                <a:spcPct val="107000"/>
              </a:lnSpc>
              <a:spcAft>
                <a:spcPts val="800"/>
              </a:spcAft>
              <a:buNone/>
            </a:pPr>
            <a:r>
              <a:rPr lang="en-US" sz="1600" b="1" i="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    Social Coding</a:t>
            </a:r>
            <a:endParaRPr lang="en-US" sz="1600" b="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428145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par>
                          <p:cTn id="11" fill="hold">
                            <p:stCondLst>
                              <p:cond delay="500"/>
                            </p:stCondLst>
                            <p:childTnLst>
                              <p:par>
                                <p:cTn id="12" presetID="2" presetClass="entr" presetSubtype="8" fill="hold" grpId="0" nodeType="after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additive="base">
                                        <p:cTn id="14" dur="5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grpId="0" nodeType="after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 calcmode="lin" valueType="num">
                                      <p:cBhvr additive="base">
                                        <p:cTn id="19" dur="500" fill="hold"/>
                                        <p:tgtEl>
                                          <p:spTgt spid="7">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
                                            <p:txEl>
                                              <p:pRg st="1" end="1"/>
                                            </p:txEl>
                                          </p:spTgt>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2" presetClass="entr" presetSubtype="8" fill="hold" grpId="0" nodeType="after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 calcmode="lin" valueType="num">
                                      <p:cBhvr additive="base">
                                        <p:cTn id="24" dur="500" fill="hold"/>
                                        <p:tgtEl>
                                          <p:spTgt spid="7">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7">
                                            <p:txEl>
                                              <p:pRg st="2" end="2"/>
                                            </p:txEl>
                                          </p:spTgt>
                                        </p:tgtEl>
                                        <p:attrNameLst>
                                          <p:attrName>ppt_y</p:attrName>
                                        </p:attrNameLst>
                                      </p:cBhvr>
                                      <p:tavLst>
                                        <p:tav tm="0">
                                          <p:val>
                                            <p:strVal val="#ppt_y"/>
                                          </p:val>
                                        </p:tav>
                                        <p:tav tm="100000">
                                          <p:val>
                                            <p:strVal val="#ppt_y"/>
                                          </p:val>
                                        </p:tav>
                                      </p:tavLst>
                                    </p:anim>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 calcmode="lin" valueType="num">
                                      <p:cBhvr additive="base">
                                        <p:cTn id="29" dur="500" fill="hold"/>
                                        <p:tgtEl>
                                          <p:spTgt spid="7">
                                            <p:txEl>
                                              <p:pRg st="3" end="3"/>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7">
                                            <p:txEl>
                                              <p:pRg st="3" end="3"/>
                                            </p:txEl>
                                          </p:spTgt>
                                        </p:tgtEl>
                                        <p:attrNameLst>
                                          <p:attrName>ppt_y</p:attrName>
                                        </p:attrNameLst>
                                      </p:cBhvr>
                                      <p:tavLst>
                                        <p:tav tm="0">
                                          <p:val>
                                            <p:strVal val="#ppt_y"/>
                                          </p:val>
                                        </p:tav>
                                        <p:tav tm="100000">
                                          <p:val>
                                            <p:strVal val="#ppt_y"/>
                                          </p:val>
                                        </p:tav>
                                      </p:tavLst>
                                    </p:anim>
                                  </p:childTnLst>
                                </p:cTn>
                              </p:par>
                            </p:childTnLst>
                          </p:cTn>
                        </p:par>
                        <p:par>
                          <p:cTn id="31" fill="hold">
                            <p:stCondLst>
                              <p:cond delay="2500"/>
                            </p:stCondLst>
                            <p:childTnLst>
                              <p:par>
                                <p:cTn id="32" presetID="2" presetClass="entr" presetSubtype="8" fill="hold" grpId="0" nodeType="after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 calcmode="lin" valueType="num">
                                      <p:cBhvr additive="base">
                                        <p:cTn id="34" dur="500" fill="hold"/>
                                        <p:tgtEl>
                                          <p:spTgt spid="7">
                                            <p:txEl>
                                              <p:pRg st="4" end="4"/>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29D1AC-02B0-E395-051A-96B3213582A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26" name="Picture 2" descr="ICT: Information and Communication Technology ~ Skill Up">
            <a:extLst>
              <a:ext uri="{FF2B5EF4-FFF2-40B4-BE49-F238E27FC236}">
                <a16:creationId xmlns:a16="http://schemas.microsoft.com/office/drawing/2014/main" id="{D13B5923-CD5D-881C-AD08-78095A79B184}"/>
              </a:ext>
            </a:extLst>
          </p:cNvPr>
          <p:cNvPicPr>
            <a:picLocks noChangeAspect="1" noChangeArrowheads="1"/>
          </p:cNvPicPr>
          <p:nvPr/>
        </p:nvPicPr>
        <p:blipFill>
          <a:blip r:embed="rId4">
            <a:alphaModFix amt="20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5F84D6B-5871-C845-CE0E-02F7A53FC178}"/>
              </a:ext>
            </a:extLst>
          </p:cNvPr>
          <p:cNvSpPr txBox="1"/>
          <p:nvPr/>
        </p:nvSpPr>
        <p:spPr>
          <a:xfrm>
            <a:off x="947738" y="323770"/>
            <a:ext cx="6162674" cy="476284"/>
          </a:xfrm>
          <a:prstGeom prst="rect">
            <a:avLst/>
          </a:prstGeom>
          <a:noFill/>
        </p:spPr>
        <p:txBody>
          <a:bodyPr wrap="square">
            <a:spAutoFit/>
          </a:bodyPr>
          <a:lstStyle/>
          <a:p>
            <a:pPr marL="400050" marR="0" lvl="0" indent="-400050" rtl="0">
              <a:lnSpc>
                <a:spcPct val="115000"/>
              </a:lnSpc>
              <a:spcAft>
                <a:spcPts val="1000"/>
              </a:spcAft>
              <a:buFont typeface="+mj-lt"/>
              <a:buAutoNum type="romanUcPeriod" startAt="7"/>
            </a:pPr>
            <a:r>
              <a:rPr lang="en-US" sz="2400" b="1"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Case Studies &amp; Examples</a:t>
            </a:r>
            <a:endParaRPr lang="en-US" sz="2400"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DAAF66EC-F3D4-88B5-31EA-217EEB3E2D9C}"/>
              </a:ext>
            </a:extLst>
          </p:cNvPr>
          <p:cNvSpPr txBox="1"/>
          <p:nvPr/>
        </p:nvSpPr>
        <p:spPr>
          <a:xfrm>
            <a:off x="1357313" y="1123824"/>
            <a:ext cx="6162674" cy="1477328"/>
          </a:xfrm>
          <a:prstGeom prst="rect">
            <a:avLst/>
          </a:prstGeom>
          <a:noFill/>
        </p:spPr>
        <p:txBody>
          <a:bodyPr wrap="square">
            <a:spAutoFit/>
          </a:bodyPr>
          <a:lstStyle/>
          <a:p>
            <a:pPr marL="342900" indent="-342900">
              <a:buFont typeface="+mj-lt"/>
              <a:buAutoNum type="arabicPeriod"/>
            </a:pPr>
            <a:r>
              <a:rPr lang="en-US" b="1" dirty="0">
                <a:solidFill>
                  <a:schemeClr val="accent2">
                    <a:lumMod val="60000"/>
                    <a:lumOff val="40000"/>
                  </a:schemeClr>
                </a:solidFill>
                <a:latin typeface="Agency FB" panose="020B0503020202020204" pitchFamily="34" charset="0"/>
              </a:rPr>
              <a:t>How ICT Improves Daily Work</a:t>
            </a:r>
            <a:endParaRPr lang="en-US" dirty="0">
              <a:solidFill>
                <a:schemeClr val="accent2">
                  <a:lumMod val="60000"/>
                  <a:lumOff val="40000"/>
                </a:schemeClr>
              </a:solidFill>
              <a:latin typeface="Agency FB" panose="020B0503020202020204" pitchFamily="34" charset="0"/>
            </a:endParaRPr>
          </a:p>
          <a:p>
            <a:endParaRPr lang="en-US" sz="1800" dirty="0">
              <a:solidFill>
                <a:schemeClr val="accent2">
                  <a:lumMod val="20000"/>
                  <a:lumOff val="80000"/>
                </a:schemeClr>
              </a:solidFill>
              <a:effectLst/>
              <a:latin typeface="Agency FB" panose="020B0503020202020204" pitchFamily="34" charset="0"/>
              <a:ea typeface="Calibri" panose="020F0502020204030204" pitchFamily="34" charset="0"/>
            </a:endParaRPr>
          </a:p>
          <a:p>
            <a:r>
              <a:rPr lang="en-US" sz="1800" dirty="0">
                <a:solidFill>
                  <a:schemeClr val="accent2">
                    <a:lumMod val="20000"/>
                    <a:lumOff val="80000"/>
                  </a:schemeClr>
                </a:solidFill>
                <a:effectLst/>
                <a:latin typeface="Agency FB" panose="020B0503020202020204" pitchFamily="34" charset="0"/>
                <a:ea typeface="Calibri" panose="020F0502020204030204" pitchFamily="34" charset="0"/>
              </a:rPr>
              <a:t>The integration of ICT tools has fundamentally changed the modern professional landscape by replacing manual, time-consuming tasks with automated digital workflows</a:t>
            </a:r>
            <a:endParaRPr lang="en-US" dirty="0">
              <a:solidFill>
                <a:schemeClr val="accent2">
                  <a:lumMod val="20000"/>
                  <a:lumOff val="80000"/>
                </a:schemeClr>
              </a:solidFill>
              <a:latin typeface="Agency FB" panose="020B0503020202020204" pitchFamily="34" charset="0"/>
            </a:endParaRPr>
          </a:p>
        </p:txBody>
      </p:sp>
      <p:sp>
        <p:nvSpPr>
          <p:cNvPr id="12" name="TextBox 11">
            <a:extLst>
              <a:ext uri="{FF2B5EF4-FFF2-40B4-BE49-F238E27FC236}">
                <a16:creationId xmlns:a16="http://schemas.microsoft.com/office/drawing/2014/main" id="{748E42EA-B64F-4435-A0B4-F0AD22AE6DC8}"/>
              </a:ext>
            </a:extLst>
          </p:cNvPr>
          <p:cNvSpPr txBox="1"/>
          <p:nvPr/>
        </p:nvSpPr>
        <p:spPr>
          <a:xfrm>
            <a:off x="1357313" y="2676948"/>
            <a:ext cx="6162674" cy="1570943"/>
          </a:xfrm>
          <a:prstGeom prst="rect">
            <a:avLst/>
          </a:prstGeom>
          <a:noFill/>
        </p:spPr>
        <p:txBody>
          <a:bodyPr wrap="square">
            <a:spAutoFit/>
          </a:bodyPr>
          <a:lstStyle/>
          <a:p>
            <a:pPr marL="285750" marR="0" indent="-285750">
              <a:lnSpc>
                <a:spcPct val="107000"/>
              </a:lnSpc>
              <a:spcAft>
                <a:spcPts val="800"/>
              </a:spcAft>
              <a:buFont typeface="Arial" panose="020B0604020202020204" pitchFamily="34" charset="0"/>
              <a:buChar char="•"/>
            </a:pPr>
            <a:r>
              <a:rPr lang="en-US" sz="1800" b="1" i="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Enhanced Connectivity</a:t>
            </a:r>
            <a:endParaRPr lang="en-US" sz="16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285750" marR="0" indent="-285750">
              <a:lnSpc>
                <a:spcPct val="107000"/>
              </a:lnSpc>
              <a:spcAft>
                <a:spcPts val="800"/>
              </a:spcAft>
              <a:buFont typeface="Arial" panose="020B0604020202020204" pitchFamily="34" charset="0"/>
              <a:buChar char="•"/>
            </a:pPr>
            <a:r>
              <a:rPr lang="en-US" sz="1800" b="1" i="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Seamless Collaboration</a:t>
            </a:r>
            <a:endParaRPr lang="en-US" sz="16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285750" marR="0" indent="-285750">
              <a:lnSpc>
                <a:spcPct val="107000"/>
              </a:lnSpc>
              <a:spcAft>
                <a:spcPts val="800"/>
              </a:spcAft>
              <a:buFont typeface="Arial" panose="020B0604020202020204" pitchFamily="34" charset="0"/>
              <a:buChar char="•"/>
            </a:pPr>
            <a:r>
              <a:rPr lang="en-US" sz="1800" b="1" i="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Data-Driven Efficiency</a:t>
            </a:r>
            <a:endParaRPr lang="en-US" sz="1600" b="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a:p>
            <a:pPr marL="285750" marR="0" indent="-285750">
              <a:lnSpc>
                <a:spcPct val="107000"/>
              </a:lnSpc>
              <a:spcAft>
                <a:spcPts val="800"/>
              </a:spcAft>
              <a:buFont typeface="Arial" panose="020B0604020202020204" pitchFamily="34" charset="0"/>
              <a:buChar char="•"/>
            </a:pPr>
            <a:r>
              <a:rPr lang="en-US" sz="1800" b="1" i="1"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rPr>
              <a:t>Workflow Flexibility</a:t>
            </a:r>
            <a:endParaRPr lang="en-US" sz="1600" dirty="0">
              <a:solidFill>
                <a:schemeClr val="accent2">
                  <a:lumMod val="20000"/>
                  <a:lumOff val="80000"/>
                </a:schemeClr>
              </a:solidFill>
              <a:effectLst/>
              <a:latin typeface="Agency FB" panose="020B0503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07936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2000"/>
                                        <p:tgtEl>
                                          <p:spTgt spid="7"/>
                                        </p:tgtEl>
                                      </p:cBhvr>
                                    </p:animEffect>
                                  </p:childTnLst>
                                </p:cTn>
                              </p:par>
                            </p:childTnLst>
                          </p:cTn>
                        </p:par>
                        <p:par>
                          <p:cTn id="11" fill="hold">
                            <p:stCondLst>
                              <p:cond delay="2000"/>
                            </p:stCondLst>
                            <p:childTnLst>
                              <p:par>
                                <p:cTn id="12" presetID="2" presetClass="entr" presetSubtype="8" fill="hold" grpId="0" nodeType="afterEffect">
                                  <p:stCondLst>
                                    <p:cond delay="0"/>
                                  </p:stCondLst>
                                  <p:childTnLst>
                                    <p:set>
                                      <p:cBhvr>
                                        <p:cTn id="13" dur="1" fill="hold">
                                          <p:stCondLst>
                                            <p:cond delay="0"/>
                                          </p:stCondLst>
                                        </p:cTn>
                                        <p:tgtEl>
                                          <p:spTgt spid="12">
                                            <p:txEl>
                                              <p:pRg st="0" end="0"/>
                                            </p:txEl>
                                          </p:spTgt>
                                        </p:tgtEl>
                                        <p:attrNameLst>
                                          <p:attrName>style.visibility</p:attrName>
                                        </p:attrNameLst>
                                      </p:cBhvr>
                                      <p:to>
                                        <p:strVal val="visible"/>
                                      </p:to>
                                    </p:set>
                                    <p:anim calcmode="lin" valueType="num">
                                      <p:cBhvr additive="base">
                                        <p:cTn id="14"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15"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par>
                          <p:cTn id="16" fill="hold">
                            <p:stCondLst>
                              <p:cond delay="2500"/>
                            </p:stCondLst>
                            <p:childTnLst>
                              <p:par>
                                <p:cTn id="17" presetID="2" presetClass="entr" presetSubtype="8" fill="hold" grpId="0" nodeType="after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anim calcmode="lin" valueType="num">
                                      <p:cBhvr additive="base">
                                        <p:cTn id="19" dur="500" fill="hold"/>
                                        <p:tgtEl>
                                          <p:spTgt spid="12">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
                                            <p:txEl>
                                              <p:pRg st="1" end="1"/>
                                            </p:txEl>
                                          </p:spTgt>
                                        </p:tgtEl>
                                        <p:attrNameLst>
                                          <p:attrName>ppt_y</p:attrName>
                                        </p:attrNameLst>
                                      </p:cBhvr>
                                      <p:tavLst>
                                        <p:tav tm="0">
                                          <p:val>
                                            <p:strVal val="#ppt_y"/>
                                          </p:val>
                                        </p:tav>
                                        <p:tav tm="100000">
                                          <p:val>
                                            <p:strVal val="#ppt_y"/>
                                          </p:val>
                                        </p:tav>
                                      </p:tavLst>
                                    </p:anim>
                                  </p:childTnLst>
                                </p:cTn>
                              </p:par>
                            </p:childTnLst>
                          </p:cTn>
                        </p:par>
                        <p:par>
                          <p:cTn id="21" fill="hold">
                            <p:stCondLst>
                              <p:cond delay="3000"/>
                            </p:stCondLst>
                            <p:childTnLst>
                              <p:par>
                                <p:cTn id="22" presetID="2" presetClass="entr" presetSubtype="8" fill="hold" grpId="0" nodeType="afterEffect">
                                  <p:stCondLst>
                                    <p:cond delay="0"/>
                                  </p:stCondLst>
                                  <p:childTnLst>
                                    <p:set>
                                      <p:cBhvr>
                                        <p:cTn id="23" dur="1" fill="hold">
                                          <p:stCondLst>
                                            <p:cond delay="0"/>
                                          </p:stCondLst>
                                        </p:cTn>
                                        <p:tgtEl>
                                          <p:spTgt spid="12">
                                            <p:txEl>
                                              <p:pRg st="2" end="2"/>
                                            </p:txEl>
                                          </p:spTgt>
                                        </p:tgtEl>
                                        <p:attrNameLst>
                                          <p:attrName>style.visibility</p:attrName>
                                        </p:attrNameLst>
                                      </p:cBhvr>
                                      <p:to>
                                        <p:strVal val="visible"/>
                                      </p:to>
                                    </p:set>
                                    <p:anim calcmode="lin" valueType="num">
                                      <p:cBhvr additive="base">
                                        <p:cTn id="24" dur="500" fill="hold"/>
                                        <p:tgtEl>
                                          <p:spTgt spid="12">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12">
                                            <p:txEl>
                                              <p:pRg st="2" end="2"/>
                                            </p:txEl>
                                          </p:spTgt>
                                        </p:tgtEl>
                                        <p:attrNameLst>
                                          <p:attrName>ppt_y</p:attrName>
                                        </p:attrNameLst>
                                      </p:cBhvr>
                                      <p:tavLst>
                                        <p:tav tm="0">
                                          <p:val>
                                            <p:strVal val="#ppt_y"/>
                                          </p:val>
                                        </p:tav>
                                        <p:tav tm="100000">
                                          <p:val>
                                            <p:strVal val="#ppt_y"/>
                                          </p:val>
                                        </p:tav>
                                      </p:tavLst>
                                    </p:anim>
                                  </p:childTnLst>
                                </p:cTn>
                              </p:par>
                            </p:childTnLst>
                          </p:cTn>
                        </p:par>
                        <p:par>
                          <p:cTn id="26" fill="hold">
                            <p:stCondLst>
                              <p:cond delay="3500"/>
                            </p:stCondLst>
                            <p:childTnLst>
                              <p:par>
                                <p:cTn id="27" presetID="2" presetClass="entr" presetSubtype="8" fill="hold" grpId="0" nodeType="afterEffect">
                                  <p:stCondLst>
                                    <p:cond delay="0"/>
                                  </p:stCondLst>
                                  <p:childTnLst>
                                    <p:set>
                                      <p:cBhvr>
                                        <p:cTn id="28" dur="1" fill="hold">
                                          <p:stCondLst>
                                            <p:cond delay="0"/>
                                          </p:stCondLst>
                                        </p:cTn>
                                        <p:tgtEl>
                                          <p:spTgt spid="12">
                                            <p:txEl>
                                              <p:pRg st="3" end="3"/>
                                            </p:txEl>
                                          </p:spTgt>
                                        </p:tgtEl>
                                        <p:attrNameLst>
                                          <p:attrName>style.visibility</p:attrName>
                                        </p:attrNameLst>
                                      </p:cBhvr>
                                      <p:to>
                                        <p:strVal val="visible"/>
                                      </p:to>
                                    </p:set>
                                    <p:anim calcmode="lin" valueType="num">
                                      <p:cBhvr additive="base">
                                        <p:cTn id="29" dur="500" fill="hold"/>
                                        <p:tgtEl>
                                          <p:spTgt spid="12">
                                            <p:txEl>
                                              <p:pRg st="3" end="3"/>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4027F4-73E0-3531-3403-161D88271D00}"/>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6763C759-D083-191A-60B1-7483E94DD76E}"/>
              </a:ext>
            </a:extLst>
          </p:cNvPr>
          <p:cNvSpPr>
            <a:spLocks noChangeArrowheads="1"/>
          </p:cNvSpPr>
          <p:nvPr/>
        </p:nvSpPr>
        <p:spPr bwMode="auto">
          <a:xfrm>
            <a:off x="466927" y="372362"/>
            <a:ext cx="286168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800100" marR="0" lvl="1" indent="-342900" algn="l" defTabSz="914400" rtl="0" eaLnBrk="0" fontAlgn="base" latinLnBrk="0" hangingPunct="0">
              <a:lnSpc>
                <a:spcPct val="100000"/>
              </a:lnSpc>
              <a:spcBef>
                <a:spcPct val="0"/>
              </a:spcBef>
              <a:spcAft>
                <a:spcPct val="0"/>
              </a:spcAft>
              <a:buClrTx/>
              <a:buSzTx/>
              <a:buFont typeface="+mj-lt"/>
              <a:buAutoNum type="arabicPeriod" startAt="2"/>
              <a:tabLst/>
            </a:pPr>
            <a:r>
              <a:rPr kumimoji="0" lang="en-US" altLang="en-US" b="1" i="0" u="none" strike="noStrike" cap="none" normalizeH="0" baseline="0" dirty="0">
                <a:ln>
                  <a:noFill/>
                </a:ln>
                <a:solidFill>
                  <a:schemeClr val="accent2">
                    <a:lumMod val="60000"/>
                    <a:lumOff val="40000"/>
                  </a:schemeClr>
                </a:solidFill>
                <a:effectLst/>
                <a:latin typeface="Agency FB" panose="020B0503020202020204" pitchFamily="34" charset="0"/>
                <a:ea typeface="Calibri" panose="020F0502020204030204" pitchFamily="34" charset="0"/>
                <a:cs typeface="Times New Roman" panose="02020603050405020304" pitchFamily="18" charset="0"/>
              </a:rPr>
              <a:t>Real-World Applications</a:t>
            </a:r>
            <a:endParaRPr kumimoji="0" lang="en-US" altLang="en-US" b="0" i="0" u="none" strike="noStrike" cap="none" normalizeH="0" baseline="0" dirty="0">
              <a:ln>
                <a:noFill/>
              </a:ln>
              <a:solidFill>
                <a:schemeClr val="accent2">
                  <a:lumMod val="60000"/>
                  <a:lumOff val="40000"/>
                </a:schemeClr>
              </a:solidFill>
              <a:effectLst/>
              <a:latin typeface="Agency FB" panose="020B05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2CF2DD1E-BE86-53E7-C5C9-DB7E6C801A35}"/>
              </a:ext>
            </a:extLst>
          </p:cNvPr>
          <p:cNvSpPr>
            <a:spLocks noChangeArrowheads="1"/>
          </p:cNvSpPr>
          <p:nvPr/>
        </p:nvSpPr>
        <p:spPr bwMode="auto">
          <a:xfrm>
            <a:off x="1000327" y="1180116"/>
            <a:ext cx="679112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strike="noStrike" cap="none" normalizeH="0" baseline="0" dirty="0">
                <a:ln>
                  <a:noFill/>
                </a:ln>
                <a:solidFill>
                  <a:schemeClr val="accent3">
                    <a:lumMod val="60000"/>
                    <a:lumOff val="40000"/>
                  </a:schemeClr>
                </a:solidFill>
                <a:effectLst/>
                <a:latin typeface="Times New Roman" panose="02020603050405020304" pitchFamily="18" charset="0"/>
                <a:ea typeface="Calibri" panose="020F0502020204030204" pitchFamily="34" charset="0"/>
                <a:cs typeface="Times New Roman" panose="02020603050405020304" pitchFamily="18" charset="0"/>
              </a:rPr>
              <a:t>ICT</a:t>
            </a:r>
            <a:r>
              <a:rPr kumimoji="0" lang="en-US" altLang="en-US" sz="1600" i="0" strike="noStrike" cap="none" normalizeH="0" baseline="0" dirty="0">
                <a:ln>
                  <a:noFill/>
                </a:ln>
                <a:solidFill>
                  <a:schemeClr val="accent2">
                    <a:lumMod val="20000"/>
                    <a:lumOff val="80000"/>
                  </a:schemeClr>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600" b="0" i="0" u="none" strike="noStrike" cap="none" normalizeH="0" baseline="0" dirty="0">
                <a:ln>
                  <a:noFill/>
                </a:ln>
                <a:solidFill>
                  <a:schemeClr val="accent2">
                    <a:lumMod val="20000"/>
                    <a:lumOff val="80000"/>
                  </a:schemeClr>
                </a:solidFill>
                <a:effectLst/>
                <a:latin typeface="Times New Roman" panose="02020603050405020304" pitchFamily="18" charset="0"/>
                <a:ea typeface="Calibri" panose="020F0502020204030204" pitchFamily="34" charset="0"/>
                <a:cs typeface="Times New Roman" panose="02020603050405020304" pitchFamily="18" charset="0"/>
              </a:rPr>
              <a:t>is </a:t>
            </a:r>
            <a:r>
              <a:rPr kumimoji="0" lang="en-US" altLang="en-US" sz="1600" b="0" i="0" u="none" strike="noStrike" cap="none" normalizeH="0" baseline="0" dirty="0">
                <a:ln>
                  <a:noFill/>
                </a:ln>
                <a:solidFill>
                  <a:schemeClr val="accent2">
                    <a:lumMod val="20000"/>
                    <a:lumOff val="80000"/>
                  </a:schemeClr>
                </a:solidFill>
                <a:effectLst/>
                <a:latin typeface="Agency FB" panose="020B0503020202020204" pitchFamily="34" charset="0"/>
                <a:ea typeface="Calibri" panose="020F0502020204030204" pitchFamily="34" charset="0"/>
                <a:cs typeface="Times New Roman" panose="02020603050405020304" pitchFamily="18" charset="0"/>
              </a:rPr>
              <a:t>not limited to office work; it has revolutionized every major sector of the global economy:</a:t>
            </a:r>
            <a:endParaRPr kumimoji="0" lang="en-US" altLang="en-US" sz="1600" b="0" i="0" u="none" strike="noStrike" cap="none" normalizeH="0" baseline="0" dirty="0">
              <a:ln>
                <a:noFill/>
              </a:ln>
              <a:solidFill>
                <a:schemeClr val="accent2">
                  <a:lumMod val="20000"/>
                  <a:lumOff val="80000"/>
                </a:schemeClr>
              </a:solidFill>
              <a:effectLst/>
              <a:latin typeface="Agency FB" panose="020B05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1" u="sng" strike="noStrike" cap="none" normalizeH="0" baseline="0" dirty="0">
                <a:ln>
                  <a:noFill/>
                </a:ln>
                <a:solidFill>
                  <a:schemeClr val="accent2">
                    <a:lumMod val="60000"/>
                    <a:lumOff val="40000"/>
                  </a:schemeClr>
                </a:solidFill>
                <a:effectLst/>
                <a:latin typeface="Agency FB" panose="020B0503020202020204" pitchFamily="34" charset="0"/>
                <a:ea typeface="Calibri" panose="020F0502020204030204" pitchFamily="34" charset="0"/>
                <a:cs typeface="Times New Roman" panose="02020603050405020304" pitchFamily="18" charset="0"/>
              </a:rPr>
              <a:t>Healthcare (Telemedicine &amp; EHR):</a:t>
            </a:r>
            <a:r>
              <a:rPr kumimoji="0" lang="en-US" altLang="en-US" sz="1600" b="0" i="0" u="none" strike="noStrike" cap="none" normalizeH="0" baseline="0" dirty="0">
                <a:ln>
                  <a:noFill/>
                </a:ln>
                <a:solidFill>
                  <a:schemeClr val="accent2">
                    <a:lumMod val="60000"/>
                    <a:lumOff val="40000"/>
                  </a:schemeClr>
                </a:solidFill>
                <a:effectLst/>
                <a:latin typeface="Agency FB" panose="020B0503020202020204" pitchFamily="34" charset="0"/>
                <a:ea typeface="Calibri" panose="020F0502020204030204" pitchFamily="34" charset="0"/>
                <a:cs typeface="Times New Roman" panose="02020603050405020304" pitchFamily="18" charset="0"/>
              </a:rPr>
              <a:t> </a:t>
            </a:r>
            <a:r>
              <a:rPr kumimoji="0" lang="en-US" altLang="en-US" sz="1600" b="1" i="0" u="none" strike="noStrike" cap="none" normalizeH="0" baseline="0" dirty="0">
                <a:ln>
                  <a:noFill/>
                </a:ln>
                <a:solidFill>
                  <a:schemeClr val="accent2">
                    <a:lumMod val="20000"/>
                    <a:lumOff val="80000"/>
                  </a:schemeClr>
                </a:solidFill>
                <a:effectLst/>
                <a:latin typeface="Agency FB" panose="020B0503020202020204" pitchFamily="34" charset="0"/>
                <a:ea typeface="Calibri" panose="020F0502020204030204" pitchFamily="34" charset="0"/>
                <a:cs typeface="Times New Roman" panose="02020603050405020304" pitchFamily="18" charset="0"/>
              </a:rPr>
              <a:t>electronic health records</a:t>
            </a:r>
            <a:r>
              <a:rPr kumimoji="0" lang="en-US" altLang="en-US" sz="1600" b="0" i="0" u="none" strike="noStrike" cap="none" normalizeH="0" baseline="0" dirty="0">
                <a:ln>
                  <a:noFill/>
                </a:ln>
                <a:solidFill>
                  <a:schemeClr val="accent2">
                    <a:lumMod val="20000"/>
                    <a:lumOff val="80000"/>
                  </a:schemeClr>
                </a:solidFill>
                <a:effectLst/>
                <a:latin typeface="Agency FB" panose="020B0503020202020204" pitchFamily="34" charset="0"/>
                <a:ea typeface="Calibri" panose="020F0502020204030204" pitchFamily="34" charset="0"/>
                <a:cs typeface="Times New Roman" panose="02020603050405020304" pitchFamily="18" charset="0"/>
              </a:rPr>
              <a:t> </a:t>
            </a:r>
            <a:r>
              <a:rPr kumimoji="0" lang="en-US" altLang="en-US" sz="1600" b="1" i="1" u="sng" strike="noStrike" cap="none" normalizeH="0" baseline="0" dirty="0">
                <a:ln>
                  <a:noFill/>
                </a:ln>
                <a:solidFill>
                  <a:schemeClr val="accent2">
                    <a:lumMod val="60000"/>
                    <a:lumOff val="40000"/>
                  </a:schemeClr>
                </a:solidFill>
                <a:effectLst/>
                <a:latin typeface="Agency FB" panose="020B0503020202020204" pitchFamily="34" charset="0"/>
                <a:ea typeface="Calibri" panose="020F0502020204030204" pitchFamily="34" charset="0"/>
                <a:cs typeface="Times New Roman" panose="02020603050405020304" pitchFamily="18" charset="0"/>
              </a:rPr>
              <a:t>Education (E-Learning Platforms):</a:t>
            </a:r>
            <a:r>
              <a:rPr kumimoji="0" lang="en-US" altLang="en-US" sz="1600" b="0" i="0" u="none" strike="noStrike" cap="none" normalizeH="0" baseline="0" dirty="0">
                <a:ln>
                  <a:noFill/>
                </a:ln>
                <a:solidFill>
                  <a:schemeClr val="accent2">
                    <a:lumMod val="60000"/>
                    <a:lumOff val="40000"/>
                  </a:schemeClr>
                </a:solidFill>
                <a:effectLst/>
                <a:latin typeface="Agency FB" panose="020B0503020202020204" pitchFamily="34" charset="0"/>
                <a:ea typeface="Calibri" panose="020F0502020204030204" pitchFamily="34" charset="0"/>
                <a:cs typeface="Times New Roman" panose="02020603050405020304" pitchFamily="18" charset="0"/>
              </a:rPr>
              <a:t> </a:t>
            </a:r>
            <a:r>
              <a:rPr kumimoji="0" lang="en-US" altLang="en-US" sz="1600" b="1" i="0" u="none" strike="noStrike" cap="none" normalizeH="0" baseline="0" dirty="0">
                <a:ln>
                  <a:noFill/>
                </a:ln>
                <a:solidFill>
                  <a:schemeClr val="accent2">
                    <a:lumMod val="20000"/>
                    <a:lumOff val="80000"/>
                  </a:schemeClr>
                </a:solidFill>
                <a:effectLst/>
                <a:latin typeface="Agency FB" panose="020B0503020202020204" pitchFamily="34" charset="0"/>
                <a:ea typeface="Calibri" panose="020F0502020204030204" pitchFamily="34" charset="0"/>
                <a:cs typeface="Times New Roman" panose="02020603050405020304" pitchFamily="18" charset="0"/>
              </a:rPr>
              <a:t>Google Classroom</a:t>
            </a:r>
            <a:r>
              <a:rPr kumimoji="0" lang="en-US" altLang="en-US" sz="1600" b="0" i="0" u="none" strike="noStrike" cap="none" normalizeH="0" baseline="0" dirty="0">
                <a:ln>
                  <a:noFill/>
                </a:ln>
                <a:solidFill>
                  <a:schemeClr val="accent2">
                    <a:lumMod val="20000"/>
                    <a:lumOff val="80000"/>
                  </a:schemeClr>
                </a:solidFill>
                <a:effectLst/>
                <a:latin typeface="Agency FB" panose="020B0503020202020204" pitchFamily="34" charset="0"/>
                <a:ea typeface="Calibri" panose="020F0502020204030204" pitchFamily="34" charset="0"/>
                <a:cs typeface="Times New Roman" panose="02020603050405020304" pitchFamily="18" charset="0"/>
              </a:rPr>
              <a:t> and </a:t>
            </a:r>
            <a:r>
              <a:rPr kumimoji="0" lang="en-US" altLang="en-US" sz="1600" b="1" i="0" u="none" strike="noStrike" cap="none" normalizeH="0" baseline="0" dirty="0">
                <a:ln>
                  <a:noFill/>
                </a:ln>
                <a:solidFill>
                  <a:schemeClr val="accent2">
                    <a:lumMod val="20000"/>
                    <a:lumOff val="80000"/>
                  </a:schemeClr>
                </a:solidFill>
                <a:effectLst/>
                <a:latin typeface="Agency FB" panose="020B0503020202020204" pitchFamily="34" charset="0"/>
                <a:ea typeface="Calibri" panose="020F0502020204030204" pitchFamily="34" charset="0"/>
                <a:cs typeface="Times New Roman" panose="02020603050405020304" pitchFamily="18" charset="0"/>
              </a:rPr>
              <a:t>Canvas</a:t>
            </a:r>
            <a:endParaRPr kumimoji="0" lang="en-US" altLang="en-US" sz="1600" b="0" i="0" u="none" strike="noStrike" cap="none" normalizeH="0" baseline="0" dirty="0">
              <a:ln>
                <a:noFill/>
              </a:ln>
              <a:solidFill>
                <a:schemeClr val="accent2">
                  <a:lumMod val="20000"/>
                  <a:lumOff val="80000"/>
                </a:schemeClr>
              </a:solidFill>
              <a:effectLst/>
              <a:latin typeface="Agency FB" panose="020B0503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1" u="sng" strike="noStrike" cap="none" normalizeH="0" baseline="0" dirty="0">
                <a:ln>
                  <a:noFill/>
                </a:ln>
                <a:solidFill>
                  <a:schemeClr val="accent2">
                    <a:lumMod val="60000"/>
                    <a:lumOff val="40000"/>
                  </a:schemeClr>
                </a:solidFill>
                <a:effectLst/>
                <a:latin typeface="Agency FB" panose="020B0503020202020204" pitchFamily="34" charset="0"/>
                <a:ea typeface="Calibri" panose="020F0502020204030204" pitchFamily="34" charset="0"/>
                <a:cs typeface="Times New Roman" panose="02020603050405020304" pitchFamily="18" charset="0"/>
              </a:rPr>
              <a:t>Finance (Digital Banking &amp; Fintech):</a:t>
            </a:r>
            <a:r>
              <a:rPr kumimoji="0" lang="en-US" altLang="en-US" sz="1600" b="0" i="0" u="none" strike="noStrike" cap="none" normalizeH="0" baseline="0" dirty="0">
                <a:ln>
                  <a:noFill/>
                </a:ln>
                <a:solidFill>
                  <a:schemeClr val="accent2">
                    <a:lumMod val="60000"/>
                    <a:lumOff val="40000"/>
                  </a:schemeClr>
                </a:solidFill>
                <a:effectLst/>
                <a:latin typeface="Agency FB" panose="020B0503020202020204" pitchFamily="34" charset="0"/>
                <a:ea typeface="Calibri" panose="020F0502020204030204" pitchFamily="34" charset="0"/>
                <a:cs typeface="Times New Roman" panose="02020603050405020304" pitchFamily="18" charset="0"/>
              </a:rPr>
              <a:t> </a:t>
            </a:r>
            <a:r>
              <a:rPr kumimoji="0" lang="en-US" altLang="en-US" sz="1600" b="0" i="0" u="none" strike="noStrike" cap="none" normalizeH="0" baseline="0" dirty="0">
                <a:ln>
                  <a:noFill/>
                </a:ln>
                <a:solidFill>
                  <a:schemeClr val="accent2">
                    <a:lumMod val="20000"/>
                    <a:lumOff val="80000"/>
                  </a:schemeClr>
                </a:solidFill>
                <a:effectLst/>
                <a:latin typeface="Agency FB" panose="020B0503020202020204" pitchFamily="34" charset="0"/>
                <a:ea typeface="Calibri" panose="020F0502020204030204" pitchFamily="34" charset="0"/>
                <a:cs typeface="Times New Roman" panose="02020603050405020304" pitchFamily="18" charset="0"/>
              </a:rPr>
              <a:t>mobile banking apps, and automated fraud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1" u="sng" strike="noStrike" cap="none" normalizeH="0" baseline="0" dirty="0">
                <a:ln>
                  <a:noFill/>
                </a:ln>
                <a:solidFill>
                  <a:schemeClr val="accent2">
                    <a:lumMod val="60000"/>
                    <a:lumOff val="40000"/>
                  </a:schemeClr>
                </a:solidFill>
                <a:effectLst/>
                <a:latin typeface="Agency FB" panose="020B0503020202020204" pitchFamily="34" charset="0"/>
                <a:ea typeface="Calibri" panose="020F0502020204030204" pitchFamily="34" charset="0"/>
                <a:cs typeface="Times New Roman" panose="02020603050405020304" pitchFamily="18" charset="0"/>
              </a:rPr>
              <a:t>Software Engineering (DevOps):</a:t>
            </a:r>
            <a:r>
              <a:rPr kumimoji="0" lang="en-US" altLang="en-US" sz="1600" b="0" i="0" u="none" strike="noStrike" cap="none" normalizeH="0" baseline="0" dirty="0">
                <a:ln>
                  <a:noFill/>
                </a:ln>
                <a:solidFill>
                  <a:schemeClr val="accent2">
                    <a:lumMod val="60000"/>
                    <a:lumOff val="40000"/>
                  </a:schemeClr>
                </a:solidFill>
                <a:effectLst/>
                <a:latin typeface="Agency FB" panose="020B0503020202020204" pitchFamily="34" charset="0"/>
                <a:ea typeface="Calibri" panose="020F0502020204030204" pitchFamily="34" charset="0"/>
                <a:cs typeface="Times New Roman" panose="02020603050405020304" pitchFamily="18" charset="0"/>
              </a:rPr>
              <a:t> </a:t>
            </a:r>
            <a:r>
              <a:rPr kumimoji="0" lang="en-US" altLang="en-US" sz="1600" b="1" i="0" u="sng" strike="noStrike" cap="none" normalizeH="0" baseline="0" dirty="0">
                <a:ln>
                  <a:noFill/>
                </a:ln>
                <a:solidFill>
                  <a:schemeClr val="accent2">
                    <a:lumMod val="20000"/>
                    <a:lumOff val="80000"/>
                  </a:schemeClr>
                </a:solidFill>
                <a:effectLst/>
                <a:latin typeface="Agency FB" panose="020B0503020202020204" pitchFamily="34" charset="0"/>
                <a:ea typeface="Calibri" panose="020F0502020204030204" pitchFamily="34" charset="0"/>
                <a:cs typeface="Times New Roman" panose="02020603050405020304" pitchFamily="18" charset="0"/>
              </a:rPr>
              <a:t>Git and GitHub</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08009136-9F91-AE44-3337-01970FA11F6D}"/>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753990" y="839010"/>
            <a:ext cx="10971083" cy="5179979"/>
          </a:xfrm>
          <a:prstGeom prst="rect">
            <a:avLst/>
          </a:prstGeom>
          <a:scene3d>
            <a:camera prst="isometricTopUp"/>
            <a:lightRig rig="threePt" dir="t"/>
          </a:scene3d>
        </p:spPr>
      </p:pic>
    </p:spTree>
    <p:extLst>
      <p:ext uri="{BB962C8B-B14F-4D97-AF65-F5344CB8AC3E}">
        <p14:creationId xmlns:p14="http://schemas.microsoft.com/office/powerpoint/2010/main" val="224222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2C546F-25D1-C1B0-59A1-B5E0B2A3083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5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ED33882C-7CE5-0407-CA31-EDCA82B7A06D}"/>
              </a:ext>
            </a:extLst>
          </p:cNvPr>
          <p:cNvSpPr txBox="1"/>
          <p:nvPr/>
        </p:nvSpPr>
        <p:spPr>
          <a:xfrm>
            <a:off x="3048000" y="646764"/>
            <a:ext cx="6096000" cy="4002827"/>
          </a:xfrm>
          <a:prstGeom prst="rect">
            <a:avLst/>
          </a:prstGeom>
          <a:noFill/>
        </p:spPr>
        <p:txBody>
          <a:bodyPr wrap="square">
            <a:spAutoFit/>
          </a:bodyPr>
          <a:lstStyle/>
          <a:p>
            <a:pPr marL="857250" marR="0" lvl="0" indent="-857250" rtl="0">
              <a:lnSpc>
                <a:spcPct val="115000"/>
              </a:lnSpc>
              <a:spcAft>
                <a:spcPts val="1000"/>
              </a:spcAft>
              <a:buFont typeface="+mj-lt"/>
              <a:buAutoNum type="romanUcPeriod" startAt="8"/>
            </a:pPr>
            <a:r>
              <a:rPr lang="en-US" sz="2400" b="1" kern="100" dirty="0">
                <a:solidFill>
                  <a:schemeClr val="accent6">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rPr>
              <a:t>Conclusion</a:t>
            </a:r>
            <a:endParaRPr lang="en-US" sz="2400" kern="100" dirty="0">
              <a:solidFill>
                <a:schemeClr val="accent6">
                  <a:lumMod val="60000"/>
                  <a:lumOff val="40000"/>
                </a:schemeClr>
              </a:solidFill>
              <a:latin typeface="Agency FB" panose="020B0503020202020204" pitchFamily="34" charset="0"/>
              <a:ea typeface="Calibri" panose="020F0502020204030204" pitchFamily="34" charset="0"/>
              <a:cs typeface="Arial" panose="020B0604020202020204" pitchFamily="34" charset="0"/>
            </a:endParaRPr>
          </a:p>
          <a:p>
            <a:pPr lvl="0">
              <a:lnSpc>
                <a:spcPct val="115000"/>
              </a:lnSpc>
              <a:spcAft>
                <a:spcPts val="1000"/>
              </a:spcAft>
            </a:pPr>
            <a:r>
              <a:rPr lang="en-US" sz="2400" kern="100" dirty="0">
                <a:solidFill>
                  <a:schemeClr val="accent4">
                    <a:lumMod val="60000"/>
                    <a:lumOff val="40000"/>
                  </a:schemeClr>
                </a:solidFill>
                <a:latin typeface="Agency FB" panose="020B0503020202020204" pitchFamily="34" charset="0"/>
                <a:ea typeface="Calibri" panose="020F0502020204030204" pitchFamily="34" charset="0"/>
                <a:cs typeface="Arial" panose="020B0604020202020204" pitchFamily="34" charset="0"/>
              </a:rPr>
              <a:t>In conclusion, ICT has become an essential part of modern life rather than a luxury. Tools such as Google Workspace and Microsoft Office have transformed productivity and collaboration, while Git and GitHub have reshaped global project development. Overall, ICT forms a powerful ecosystem that connects people, drives innovation, improves efficiency, and will continue to be a key force in global progress and digital transformation.</a:t>
            </a:r>
            <a:endParaRPr lang="en-US" sz="2400" kern="100" dirty="0">
              <a:solidFill>
                <a:schemeClr val="accent4">
                  <a:lumMod val="60000"/>
                  <a:lumOff val="40000"/>
                </a:schemeClr>
              </a:solidFill>
              <a:effectLst/>
              <a:latin typeface="Agency FB" panose="020B0503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015348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8"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30000" fill="hold"/>
                                        <p:tgtEl>
                                          <p:spTgt spid="5"/>
                                        </p:tgtEl>
                                        <p:attrNameLst>
                                          <p:attrName>ppt_x</p:attrName>
                                        </p:attrNameLst>
                                      </p:cBhvr>
                                      <p:tavLst>
                                        <p:tav tm="0">
                                          <p:val>
                                            <p:strVal val="#ppt_x"/>
                                          </p:val>
                                        </p:tav>
                                        <p:tav tm="100000">
                                          <p:val>
                                            <p:strVal val="#ppt_x"/>
                                          </p:val>
                                        </p:tav>
                                      </p:tavLst>
                                    </p:anim>
                                    <p:anim calcmode="lin" valueType="num">
                                      <p:cBhvr>
                                        <p:cTn id="8" dur="30000" fill="hold"/>
                                        <p:tgtEl>
                                          <p:spTgt spid="5"/>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467</TotalTime>
  <Words>1062</Words>
  <Application>Microsoft Office PowerPoint</Application>
  <PresentationFormat>Widescreen</PresentationFormat>
  <Paragraphs>145</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Agency FB</vt:lpstr>
      <vt:lpstr>Arial</vt:lpstr>
      <vt:lpstr>Bierstadt</vt:lpstr>
      <vt:lpstr>Courier New</vt:lpstr>
      <vt:lpstr>Symbol</vt:lpstr>
      <vt:lpstr>Times New Roman</vt:lpstr>
      <vt:lpstr>Wingdings</vt:lpstr>
      <vt:lpstr>GestaltVTI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idriss djoudi</dc:creator>
  <cp:lastModifiedBy>idriss djoudi</cp:lastModifiedBy>
  <cp:revision>11</cp:revision>
  <dcterms:created xsi:type="dcterms:W3CDTF">2025-12-25T17:16:02Z</dcterms:created>
  <dcterms:modified xsi:type="dcterms:W3CDTF">2025-12-27T11:22:26Z</dcterms:modified>
</cp:coreProperties>
</file>